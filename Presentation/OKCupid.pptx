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Roboto Mon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9567988-A6AF-498E-A766-414DEA3F8C55}">
  <a:tblStyle styleId="{69567988-A6AF-498E-A766-414DEA3F8C5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RobotoMono-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obotoMono-bold.fntdata"/><Relationship Id="rId6" Type="http://schemas.openxmlformats.org/officeDocument/2006/relationships/notesMaster" Target="notesMasters/notesMaster1.xml"/><Relationship Id="rId18" Type="http://schemas.openxmlformats.org/officeDocument/2006/relationships/font" Target="fonts/RobotoMon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codecademy.com"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Welcome to OKCupid!</a:t>
            </a:r>
            <a:br>
              <a:rPr lang="en-GB"/>
            </a:br>
            <a:r>
              <a:rPr lang="en-GB"/>
              <a:t>On this project I did Exploratory Data Analysis in a dataset </a:t>
            </a:r>
            <a:r>
              <a:rPr lang="en-GB"/>
              <a:t>containing</a:t>
            </a:r>
            <a:r>
              <a:rPr lang="en-GB"/>
              <a:t> user information from dating apps like OKCupid, and then used Machine Learning Algorithms to do some predictive analysis!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b511a5bd9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b511a5bd9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Dataset was made available by </a:t>
            </a:r>
            <a:r>
              <a:rPr lang="en-GB" u="sng">
                <a:solidFill>
                  <a:schemeClr val="hlink"/>
                </a:solidFill>
                <a:hlinkClick r:id="rId2"/>
              </a:rPr>
              <a:t>Codecademy.com</a:t>
            </a:r>
            <a:r>
              <a:rPr lang="en-GB"/>
              <a:t> and consists of 59,946 rows, each representing a user, and 31 columns corresponding to user information. Last_online should be a datetime object, but as I didn’t intend to use in the project, I performed no alteration to that column.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511a5bd9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b511a5bd9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After initial inspection, the dataset was observed to contain some outliers and odd values. They weren’t too many, but were enough to alter the data. </a:t>
            </a:r>
            <a:endParaRPr/>
          </a:p>
          <a:p>
            <a:pPr indent="-298450" lvl="0" marL="457200" rtl="0" algn="l">
              <a:spcBef>
                <a:spcPts val="0"/>
              </a:spcBef>
              <a:spcAft>
                <a:spcPts val="0"/>
              </a:spcAft>
              <a:buSzPts val="1100"/>
              <a:buChar char="-"/>
            </a:pPr>
            <a:r>
              <a:rPr lang="en-GB"/>
              <a:t>On Age distribution I limited the data to logical human lifespans of between 18 and 85 years old.</a:t>
            </a:r>
            <a:endParaRPr/>
          </a:p>
          <a:p>
            <a:pPr indent="-298450" lvl="0" marL="457200" rtl="0" algn="l">
              <a:spcBef>
                <a:spcPts val="0"/>
              </a:spcBef>
              <a:spcAft>
                <a:spcPts val="0"/>
              </a:spcAft>
              <a:buSzPts val="1100"/>
              <a:buChar char="-"/>
            </a:pPr>
            <a:r>
              <a:rPr lang="en-GB"/>
              <a:t>On Height distribution, I dropped rows where the values were clearly not real, and kept the values for </a:t>
            </a:r>
            <a:r>
              <a:rPr lang="en-GB"/>
              <a:t>healthy</a:t>
            </a:r>
            <a:r>
              <a:rPr lang="en-GB"/>
              <a:t> human beings, between 55 and 85 inches.</a:t>
            </a:r>
            <a:endParaRPr/>
          </a:p>
          <a:p>
            <a:pPr indent="-298450" lvl="0" marL="457200" rtl="0" algn="l">
              <a:spcBef>
                <a:spcPts val="0"/>
              </a:spcBef>
              <a:spcAft>
                <a:spcPts val="0"/>
              </a:spcAft>
              <a:buSzPts val="1100"/>
              <a:buChar char="-"/>
            </a:pPr>
            <a:r>
              <a:rPr lang="en-GB"/>
              <a:t>In the income distribution, I replaced all “-1” values for “NaN” values as the “-1” representation simply informs that a user didn’t fill that field.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511a5bd93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511a5bd9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These are the main questions that this project addresses, I started by thinking of something that would be curious and straight-forward, and tried to make things a bit more difficult as I progressed. The last question can be rendered as “Which features appear with the most weight across all algorithms?” and is something that I’ve kept in my mind as I was advancing in the project.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511a5bd9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511a5bd9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When preparing for the prediction algorithms, something that stuck out was that some of the features had a large </a:t>
            </a:r>
            <a:r>
              <a:rPr lang="en-GB"/>
              <a:t>number</a:t>
            </a:r>
            <a:r>
              <a:rPr lang="en-GB"/>
              <a:t> of values, which would complicate things when encoding, so I decided to bin those features into categories that made sense for that feature. The income feature was also very skewed, with lots of empty values and very disperse values, and here I used </a:t>
            </a:r>
            <a:r>
              <a:rPr lang="en-GB"/>
              <a:t>logarithmic</a:t>
            </a:r>
            <a:r>
              <a:rPr lang="en-GB"/>
              <a:t> binning so all the bins would have similar counts of values on them.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511a5bd93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b511a5bd93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Logistic regression was preferred over Random Forests because it provides transparent, comparable feature importance across models, which aligned better with the analytical goals of this project than marginal gains in predictive accuracy.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511a5bd93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511a5bd93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Logistic and multiclass logistic regression were chosen because they align naturally with the binary and multiclass structure of the pets problem while preserving interpretability and consistent feature analysis across models.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b511a5bd93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b511a5bd93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The initial plan for this step was to use the Random Forest Regressor, thinking that the target was numeric, but upon inspection, the target was actually categoric, and easily sorted into bins, thus resulting in the use of the Random Forest Classifier.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511a5bd93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511a5bd93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When looking at all the models used, and using a formula to calculate the overall ranking of all the features, this is our results. Body and job were the features most commonly used and with greater importance, giving them better score. Lifestyle features, even though they appear frequently, they never weight as the first two.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511a5bd93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511a5bd93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These are the main questions that this project addresses, I started by thinking of something that would be curious and straight-forward, and tried to make things a bit more difficult as I progressed. The last question can be rendered as “Which features appear with the most weight across all algorithms?” and is something that I’ve kept in my mind as I was advancing in the project.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511a5bd93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b511a5bd93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These are the main questions that this project addresses, I started by thinking of something that would be curious and straight-forward, and tried to make things a bit more difficult as I progressed. The last question can be rendered as “Which features appear with the most weight across all algorithms?” and is something that I’ve kept in my mind as I was advancing in the project.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BFB"/>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56" name="Google Shape;56;p13" title="OKCupid.jpg"/>
          <p:cNvPicPr preferRelativeResize="0"/>
          <p:nvPr/>
        </p:nvPicPr>
        <p:blipFill>
          <a:blip r:embed="rId3">
            <a:alphaModFix/>
          </a:blip>
          <a:stretch>
            <a:fillRect/>
          </a:stretch>
        </p:blipFill>
        <p:spPr>
          <a:xfrm>
            <a:off x="311700" y="1322803"/>
            <a:ext cx="8520601" cy="2497897"/>
          </a:xfrm>
          <a:prstGeom prst="rect">
            <a:avLst/>
          </a:prstGeom>
          <a:noFill/>
          <a:ln>
            <a:noFill/>
          </a:ln>
        </p:spPr>
      </p:pic>
      <p:sp>
        <p:nvSpPr>
          <p:cNvPr id="57" name="Google Shape;57;p13"/>
          <p:cNvSpPr txBox="1"/>
          <p:nvPr/>
        </p:nvSpPr>
        <p:spPr>
          <a:xfrm>
            <a:off x="7168150" y="4771700"/>
            <a:ext cx="1975800" cy="371700"/>
          </a:xfrm>
          <a:prstGeom prst="rect">
            <a:avLst/>
          </a:prstGeom>
          <a:noFill/>
          <a:ln>
            <a:noFill/>
          </a:ln>
        </p:spPr>
        <p:txBody>
          <a:bodyPr anchorCtr="0" anchor="b" bIns="91425" lIns="91425" spcFirstLastPara="1" rIns="91425" wrap="square" tIns="91425">
            <a:noAutofit/>
          </a:bodyPr>
          <a:lstStyle/>
          <a:p>
            <a:pPr indent="0" lvl="0" marL="0" rtl="0" algn="r">
              <a:spcBef>
                <a:spcPts val="0"/>
              </a:spcBef>
              <a:spcAft>
                <a:spcPts val="0"/>
              </a:spcAft>
              <a:buNone/>
            </a:pPr>
            <a:r>
              <a:rPr lang="en-GB" sz="1800">
                <a:solidFill>
                  <a:schemeClr val="lt1"/>
                </a:solidFill>
              </a:rPr>
              <a:t>Wilson Inacio</a:t>
            </a:r>
            <a:endParaRPr sz="18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BFB"/>
        </a:solidFill>
      </p:bgPr>
    </p:bg>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a:effectLst>
            <a:outerShdw blurRad="57150" rotWithShape="0" algn="bl" dir="4200000" dist="19050">
              <a:srgbClr val="BC06BC"/>
            </a:outerShdw>
          </a:effectLst>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FDBDD7"/>
                </a:solidFill>
              </a:rPr>
              <a:t>Dataset</a:t>
            </a:r>
            <a:endParaRPr b="1">
              <a:solidFill>
                <a:srgbClr val="FDBDD7"/>
              </a:solidFill>
            </a:endParaRPr>
          </a:p>
        </p:txBody>
      </p:sp>
      <p:sp>
        <p:nvSpPr>
          <p:cNvPr id="63" name="Google Shape;63;p1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GB"/>
              <a:t>The dataset is composed of 59,946 users</a:t>
            </a:r>
            <a:endParaRPr/>
          </a:p>
          <a:p>
            <a:pPr indent="-317500" lvl="0" marL="457200" rtl="0" algn="l">
              <a:spcBef>
                <a:spcPts val="0"/>
              </a:spcBef>
              <a:spcAft>
                <a:spcPts val="0"/>
              </a:spcAft>
              <a:buSzPts val="1400"/>
              <a:buChar char="●"/>
            </a:pPr>
            <a:r>
              <a:rPr lang="en-GB"/>
              <a:t>There are 31 columns in the set. corresponding to user input responses about themselves.</a:t>
            </a:r>
            <a:endParaRPr/>
          </a:p>
          <a:p>
            <a:pPr indent="-317500" lvl="0" marL="457200" rtl="0" algn="l">
              <a:spcBef>
                <a:spcPts val="0"/>
              </a:spcBef>
              <a:spcAft>
                <a:spcPts val="0"/>
              </a:spcAft>
              <a:buSzPts val="1400"/>
              <a:buChar char="●"/>
            </a:pPr>
            <a:r>
              <a:rPr lang="en-GB"/>
              <a:t>All columns are categorical except </a:t>
            </a:r>
            <a:r>
              <a:rPr lang="en-GB">
                <a:highlight>
                  <a:srgbClr val="FDBDD7"/>
                </a:highlight>
              </a:rPr>
              <a:t>age</a:t>
            </a:r>
            <a:r>
              <a:rPr lang="en-GB"/>
              <a:t>, </a:t>
            </a:r>
            <a:r>
              <a:rPr lang="en-GB">
                <a:highlight>
                  <a:srgbClr val="FDBDD7"/>
                </a:highlight>
              </a:rPr>
              <a:t>height </a:t>
            </a:r>
            <a:r>
              <a:rPr lang="en-GB"/>
              <a:t>and </a:t>
            </a:r>
            <a:r>
              <a:rPr lang="en-GB">
                <a:highlight>
                  <a:srgbClr val="FDBDD7"/>
                </a:highlight>
              </a:rPr>
              <a:t>income</a:t>
            </a:r>
            <a:r>
              <a:rPr lang="en-GB"/>
              <a:t>.</a:t>
            </a:r>
            <a:endParaRPr/>
          </a:p>
        </p:txBody>
      </p:sp>
      <p:pic>
        <p:nvPicPr>
          <p:cNvPr id="64" name="Google Shape;64;p14" title="OKCupid.jpg"/>
          <p:cNvPicPr preferRelativeResize="0"/>
          <p:nvPr/>
        </p:nvPicPr>
        <p:blipFill>
          <a:blip r:embed="rId3">
            <a:alphaModFix/>
          </a:blip>
          <a:stretch>
            <a:fillRect/>
          </a:stretch>
        </p:blipFill>
        <p:spPr>
          <a:xfrm>
            <a:off x="6881725" y="445465"/>
            <a:ext cx="1950574" cy="571825"/>
          </a:xfrm>
          <a:prstGeom prst="rect">
            <a:avLst/>
          </a:prstGeom>
          <a:noFill/>
          <a:ln>
            <a:noFill/>
          </a:ln>
        </p:spPr>
      </p:pic>
      <p:sp>
        <p:nvSpPr>
          <p:cNvPr id="65" name="Google Shape;65;p1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20000"/>
          </a:bodyPr>
          <a:lstStyle/>
          <a:p>
            <a:pPr indent="0" lvl="0" marL="0" rtl="0" algn="l">
              <a:lnSpc>
                <a:spcPct val="70000"/>
              </a:lnSpc>
              <a:spcBef>
                <a:spcPts val="50"/>
              </a:spcBef>
              <a:spcAft>
                <a:spcPts val="0"/>
              </a:spcAft>
              <a:buNone/>
            </a:pPr>
            <a:r>
              <a:rPr lang="en-GB" sz="1000">
                <a:solidFill>
                  <a:schemeClr val="dk1"/>
                </a:solidFill>
                <a:latin typeface="Courier New"/>
                <a:ea typeface="Courier New"/>
                <a:cs typeface="Courier New"/>
                <a:sym typeface="Courier New"/>
              </a:rPr>
              <a:t>RangeIndex: 59946 entries, 0 to 59945</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Data columns (total 31 columns):</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   Column       Non-Null Count  Dtype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       --------------  -----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0   age          59946 non-null  int64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1   body_type    54650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2   diet         35551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3   drinks       56961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4   drugs        45866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5   education    53318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6   essay0       54458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7   essay1       52374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8   essay2       50308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9   essay3       48470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10  essay4       49409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11  essay5       49096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12  essay6       46175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13  essay7       47495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14  essay8       40721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15  essay9       47343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16  ethnicity    54266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17  height       59943 non-null  float64</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18  income       59946 non-null  int64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19  job          51748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20  last_online  59946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21  location     59946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22  offspring    24385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23  orientation  59946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24  pets         40025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25  religion     39720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26  sex          59946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27  sign         48890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28  smokes       54434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0"/>
              </a:spcAft>
              <a:buNone/>
            </a:pPr>
            <a:r>
              <a:rPr lang="en-GB" sz="1000">
                <a:solidFill>
                  <a:schemeClr val="dk1"/>
                </a:solidFill>
                <a:latin typeface="Courier New"/>
                <a:ea typeface="Courier New"/>
                <a:cs typeface="Courier New"/>
                <a:sym typeface="Courier New"/>
              </a:rPr>
              <a:t> 29  speaks       59896 non-null  object </a:t>
            </a:r>
            <a:endParaRPr sz="1000">
              <a:solidFill>
                <a:schemeClr val="dk1"/>
              </a:solidFill>
              <a:latin typeface="Courier New"/>
              <a:ea typeface="Courier New"/>
              <a:cs typeface="Courier New"/>
              <a:sym typeface="Courier New"/>
            </a:endParaRPr>
          </a:p>
          <a:p>
            <a:pPr indent="0" lvl="0" marL="0" rtl="0" algn="l">
              <a:lnSpc>
                <a:spcPct val="70000"/>
              </a:lnSpc>
              <a:spcBef>
                <a:spcPts val="100"/>
              </a:spcBef>
              <a:spcAft>
                <a:spcPts val="100"/>
              </a:spcAft>
              <a:buNone/>
            </a:pPr>
            <a:r>
              <a:rPr lang="en-GB" sz="1000">
                <a:solidFill>
                  <a:schemeClr val="dk1"/>
                </a:solidFill>
                <a:latin typeface="Courier New"/>
                <a:ea typeface="Courier New"/>
                <a:cs typeface="Courier New"/>
                <a:sym typeface="Courier New"/>
              </a:rPr>
              <a:t> 30  status       59946 non-null  object</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BFB"/>
        </a:solidFill>
      </p:bgPr>
    </p:bg>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a:effectLst>
            <a:outerShdw blurRad="57150" rotWithShape="0" algn="bl" dir="4200000" dist="19050">
              <a:srgbClr val="BC06BC"/>
            </a:outerShdw>
          </a:effectLst>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n-GB">
                <a:solidFill>
                  <a:srgbClr val="FDBDD7"/>
                </a:solidFill>
              </a:rPr>
              <a:t>Dataset</a:t>
            </a:r>
            <a:endParaRPr b="1">
              <a:solidFill>
                <a:srgbClr val="FDBDD7"/>
              </a:solidFill>
            </a:endParaRPr>
          </a:p>
        </p:txBody>
      </p:sp>
      <p:sp>
        <p:nvSpPr>
          <p:cNvPr id="71" name="Google Shape;71;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The data had some outliers distorting the values, after an analysis, clean-up was enacted.</a:t>
            </a:r>
            <a:endParaRPr/>
          </a:p>
        </p:txBody>
      </p:sp>
      <p:pic>
        <p:nvPicPr>
          <p:cNvPr id="72" name="Google Shape;72;p15" title="OKCupid.jpg"/>
          <p:cNvPicPr preferRelativeResize="0"/>
          <p:nvPr/>
        </p:nvPicPr>
        <p:blipFill>
          <a:blip r:embed="rId3">
            <a:alphaModFix/>
          </a:blip>
          <a:stretch>
            <a:fillRect/>
          </a:stretch>
        </p:blipFill>
        <p:spPr>
          <a:xfrm>
            <a:off x="6881725" y="445465"/>
            <a:ext cx="1950574" cy="571825"/>
          </a:xfrm>
          <a:prstGeom prst="rect">
            <a:avLst/>
          </a:prstGeom>
          <a:noFill/>
          <a:ln>
            <a:noFill/>
          </a:ln>
        </p:spPr>
      </p:pic>
      <p:pic>
        <p:nvPicPr>
          <p:cNvPr id="73" name="Google Shape;73;p15"/>
          <p:cNvPicPr preferRelativeResize="0"/>
          <p:nvPr/>
        </p:nvPicPr>
        <p:blipFill>
          <a:blip r:embed="rId4">
            <a:alphaModFix/>
          </a:blip>
          <a:stretch>
            <a:fillRect/>
          </a:stretch>
        </p:blipFill>
        <p:spPr>
          <a:xfrm>
            <a:off x="982818" y="1619359"/>
            <a:ext cx="7178368" cy="1455675"/>
          </a:xfrm>
          <a:prstGeom prst="rect">
            <a:avLst/>
          </a:prstGeom>
          <a:noFill/>
          <a:ln>
            <a:noFill/>
          </a:ln>
        </p:spPr>
      </p:pic>
      <p:pic>
        <p:nvPicPr>
          <p:cNvPr id="74" name="Google Shape;74;p15"/>
          <p:cNvPicPr preferRelativeResize="0"/>
          <p:nvPr/>
        </p:nvPicPr>
        <p:blipFill>
          <a:blip r:embed="rId5">
            <a:alphaModFix/>
          </a:blip>
          <a:stretch>
            <a:fillRect/>
          </a:stretch>
        </p:blipFill>
        <p:spPr>
          <a:xfrm>
            <a:off x="982825" y="3373599"/>
            <a:ext cx="7178349" cy="1412473"/>
          </a:xfrm>
          <a:prstGeom prst="rect">
            <a:avLst/>
          </a:prstGeom>
          <a:noFill/>
          <a:ln>
            <a:noFill/>
          </a:ln>
        </p:spPr>
      </p:pic>
      <p:sp>
        <p:nvSpPr>
          <p:cNvPr id="75" name="Google Shape;75;p15"/>
          <p:cNvSpPr/>
          <p:nvPr/>
        </p:nvSpPr>
        <p:spPr>
          <a:xfrm>
            <a:off x="4393800" y="2935161"/>
            <a:ext cx="366000" cy="476400"/>
          </a:xfrm>
          <a:prstGeom prst="downArrow">
            <a:avLst>
              <a:gd fmla="val 50000" name="adj1"/>
              <a:gd fmla="val 50000" name="adj2"/>
            </a:avLst>
          </a:prstGeom>
          <a:solidFill>
            <a:srgbClr val="CFDFFA"/>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 name="Google Shape;76;p15"/>
          <p:cNvSpPr/>
          <p:nvPr/>
        </p:nvSpPr>
        <p:spPr>
          <a:xfrm>
            <a:off x="2141525" y="2897211"/>
            <a:ext cx="366000" cy="476400"/>
          </a:xfrm>
          <a:prstGeom prst="downArrow">
            <a:avLst>
              <a:gd fmla="val 50000" name="adj1"/>
              <a:gd fmla="val 50000" name="adj2"/>
            </a:avLst>
          </a:prstGeom>
          <a:solidFill>
            <a:srgbClr val="CFDFFA"/>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7" name="Google Shape;77;p15"/>
          <p:cNvSpPr/>
          <p:nvPr/>
        </p:nvSpPr>
        <p:spPr>
          <a:xfrm>
            <a:off x="6881725" y="2897211"/>
            <a:ext cx="366000" cy="476400"/>
          </a:xfrm>
          <a:prstGeom prst="downArrow">
            <a:avLst>
              <a:gd fmla="val 50000" name="adj1"/>
              <a:gd fmla="val 50000" name="adj2"/>
            </a:avLst>
          </a:prstGeom>
          <a:solidFill>
            <a:srgbClr val="CFDFFA"/>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BFB"/>
        </a:solidFill>
      </p:bgPr>
    </p:bg>
    <p:spTree>
      <p:nvGrpSpPr>
        <p:cNvPr id="81" name="Shape 81"/>
        <p:cNvGrpSpPr/>
        <p:nvPr/>
      </p:nvGrpSpPr>
      <p:grpSpPr>
        <a:xfrm>
          <a:off x="0" y="0"/>
          <a:ext cx="0" cy="0"/>
          <a:chOff x="0" y="0"/>
          <a:chExt cx="0" cy="0"/>
        </a:xfrm>
      </p:grpSpPr>
      <p:sp>
        <p:nvSpPr>
          <p:cNvPr id="82" name="Google Shape;82;p16"/>
          <p:cNvSpPr txBox="1"/>
          <p:nvPr>
            <p:ph type="title"/>
          </p:nvPr>
        </p:nvSpPr>
        <p:spPr>
          <a:xfrm>
            <a:off x="311700" y="445025"/>
            <a:ext cx="8520600" cy="572700"/>
          </a:xfrm>
          <a:prstGeom prst="rect">
            <a:avLst/>
          </a:prstGeom>
          <a:effectLst>
            <a:outerShdw blurRad="57150" rotWithShape="0" algn="bl" dir="4200000" dist="19050">
              <a:srgbClr val="BC06BC"/>
            </a:outerShdw>
          </a:effectLst>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n-GB">
                <a:solidFill>
                  <a:srgbClr val="FDBDD7"/>
                </a:solidFill>
              </a:rPr>
              <a:t>Main Questions</a:t>
            </a:r>
            <a:endParaRPr b="1">
              <a:solidFill>
                <a:srgbClr val="FDBDD7"/>
              </a:solidFill>
            </a:endParaRPr>
          </a:p>
        </p:txBody>
      </p:sp>
      <p:sp>
        <p:nvSpPr>
          <p:cNvPr id="83" name="Google Shape;8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GB"/>
              <a:t>Which profile features are the most predictive of self-reported gender on OKCupid?</a:t>
            </a:r>
            <a:endParaRPr/>
          </a:p>
          <a:p>
            <a:pPr indent="0" lvl="0" marL="457200" rtl="0" algn="l">
              <a:spcBef>
                <a:spcPts val="1200"/>
              </a:spcBef>
              <a:spcAft>
                <a:spcPts val="0"/>
              </a:spcAft>
              <a:buNone/>
            </a:pPr>
            <a:r>
              <a:t/>
            </a:r>
            <a:endParaRPr/>
          </a:p>
          <a:p>
            <a:pPr indent="-317500" lvl="0" marL="457200" rtl="0" algn="l">
              <a:spcBef>
                <a:spcPts val="1200"/>
              </a:spcBef>
              <a:spcAft>
                <a:spcPts val="0"/>
              </a:spcAft>
              <a:buSzPts val="1400"/>
              <a:buChar char="●"/>
            </a:pPr>
            <a:r>
              <a:rPr lang="en-GB"/>
              <a:t>Can lifestyle and demographic features predict whether a user owns pets?</a:t>
            </a:r>
            <a:endParaRPr/>
          </a:p>
          <a:p>
            <a:pPr indent="0" lvl="0" marL="457200" rtl="0" algn="l">
              <a:spcBef>
                <a:spcPts val="1200"/>
              </a:spcBef>
              <a:spcAft>
                <a:spcPts val="0"/>
              </a:spcAft>
              <a:buNone/>
            </a:pPr>
            <a:r>
              <a:t/>
            </a:r>
            <a:endParaRPr/>
          </a:p>
          <a:p>
            <a:pPr indent="-317500" lvl="0" marL="457200" rtl="0" algn="l">
              <a:spcBef>
                <a:spcPts val="1200"/>
              </a:spcBef>
              <a:spcAft>
                <a:spcPts val="0"/>
              </a:spcAft>
              <a:buSzPts val="1400"/>
              <a:buChar char="●"/>
            </a:pPr>
            <a:r>
              <a:rPr lang="en-GB"/>
              <a:t>How accurately can a user's income be predicted based on demographic features?</a:t>
            </a:r>
            <a:endParaRPr/>
          </a:p>
          <a:p>
            <a:pPr indent="0" lvl="0" marL="457200" rtl="0" algn="l">
              <a:spcBef>
                <a:spcPts val="1200"/>
              </a:spcBef>
              <a:spcAft>
                <a:spcPts val="0"/>
              </a:spcAft>
              <a:buNone/>
            </a:pPr>
            <a:r>
              <a:t/>
            </a:r>
            <a:endParaRPr/>
          </a:p>
          <a:p>
            <a:pPr indent="-317500" lvl="0" marL="457200" rtl="0" algn="l">
              <a:spcBef>
                <a:spcPts val="1200"/>
              </a:spcBef>
              <a:spcAft>
                <a:spcPts val="0"/>
              </a:spcAft>
              <a:buSzPts val="1400"/>
              <a:buChar char="●"/>
            </a:pPr>
            <a:r>
              <a:rPr lang="en-GB"/>
              <a:t>Which features consistently matter most across different prediction tasks and models?</a:t>
            </a:r>
            <a:endParaRPr/>
          </a:p>
        </p:txBody>
      </p:sp>
      <p:pic>
        <p:nvPicPr>
          <p:cNvPr id="84" name="Google Shape;84;p16" title="OKCupid.jpg"/>
          <p:cNvPicPr preferRelativeResize="0"/>
          <p:nvPr/>
        </p:nvPicPr>
        <p:blipFill>
          <a:blip r:embed="rId3">
            <a:alphaModFix/>
          </a:blip>
          <a:stretch>
            <a:fillRect/>
          </a:stretch>
        </p:blipFill>
        <p:spPr>
          <a:xfrm>
            <a:off x="6881725" y="445465"/>
            <a:ext cx="1950574" cy="571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BFB"/>
        </a:solidFill>
      </p:bgPr>
    </p:bg>
    <p:spTree>
      <p:nvGrpSpPr>
        <p:cNvPr id="88" name="Shape 88"/>
        <p:cNvGrpSpPr/>
        <p:nvPr/>
      </p:nvGrpSpPr>
      <p:grpSpPr>
        <a:xfrm>
          <a:off x="0" y="0"/>
          <a:ext cx="0" cy="0"/>
          <a:chOff x="0" y="0"/>
          <a:chExt cx="0" cy="0"/>
        </a:xfrm>
      </p:grpSpPr>
      <p:sp>
        <p:nvSpPr>
          <p:cNvPr id="89" name="Google Shape;89;p17"/>
          <p:cNvSpPr txBox="1"/>
          <p:nvPr>
            <p:ph type="title"/>
          </p:nvPr>
        </p:nvSpPr>
        <p:spPr>
          <a:xfrm>
            <a:off x="311700" y="445025"/>
            <a:ext cx="8520600" cy="572700"/>
          </a:xfrm>
          <a:prstGeom prst="rect">
            <a:avLst/>
          </a:prstGeom>
          <a:effectLst>
            <a:outerShdw blurRad="57150" rotWithShape="0" algn="bl" dir="4200000" dist="19050">
              <a:srgbClr val="BC06BC"/>
            </a:outerShdw>
          </a:effectLst>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n-GB">
                <a:solidFill>
                  <a:srgbClr val="FDBDD7"/>
                </a:solidFill>
              </a:rPr>
              <a:t>Prediction Algorithms</a:t>
            </a:r>
            <a:endParaRPr b="1">
              <a:solidFill>
                <a:srgbClr val="FDBDD7"/>
              </a:solidFill>
            </a:endParaRPr>
          </a:p>
        </p:txBody>
      </p:sp>
      <p:pic>
        <p:nvPicPr>
          <p:cNvPr id="90" name="Google Shape;90;p17" title="OKCupid.jpg"/>
          <p:cNvPicPr preferRelativeResize="0"/>
          <p:nvPr/>
        </p:nvPicPr>
        <p:blipFill>
          <a:blip r:embed="rId3">
            <a:alphaModFix/>
          </a:blip>
          <a:stretch>
            <a:fillRect/>
          </a:stretch>
        </p:blipFill>
        <p:spPr>
          <a:xfrm>
            <a:off x="6881725" y="445465"/>
            <a:ext cx="1950574" cy="571825"/>
          </a:xfrm>
          <a:prstGeom prst="rect">
            <a:avLst/>
          </a:prstGeom>
          <a:noFill/>
          <a:ln>
            <a:noFill/>
          </a:ln>
        </p:spPr>
      </p:pic>
      <p:sp>
        <p:nvSpPr>
          <p:cNvPr id="91" name="Google Shape;91;p17"/>
          <p:cNvSpPr/>
          <p:nvPr/>
        </p:nvSpPr>
        <p:spPr>
          <a:xfrm>
            <a:off x="1199239" y="1273550"/>
            <a:ext cx="2445975" cy="2394375"/>
          </a:xfrm>
          <a:prstGeom prst="flowChartProcess">
            <a:avLst/>
          </a:prstGeom>
          <a:solidFill>
            <a:srgbClr val="CFDFFA"/>
          </a:solidFill>
          <a:ln cap="flat" cmpd="sng" w="9525">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GB">
                <a:solidFill>
                  <a:srgbClr val="0B5394"/>
                </a:solidFill>
              </a:rPr>
              <a:t>Lots of values</a:t>
            </a:r>
            <a:endParaRPr>
              <a:solidFill>
                <a:srgbClr val="0B5394"/>
              </a:solidFill>
            </a:endParaRPr>
          </a:p>
        </p:txBody>
      </p:sp>
      <p:sp>
        <p:nvSpPr>
          <p:cNvPr id="92" name="Google Shape;92;p17"/>
          <p:cNvSpPr/>
          <p:nvPr/>
        </p:nvSpPr>
        <p:spPr>
          <a:xfrm>
            <a:off x="1364364" y="1614125"/>
            <a:ext cx="2146662" cy="474768"/>
          </a:xfrm>
          <a:prstGeom prst="flowChartDocument">
            <a:avLst/>
          </a:prstGeom>
          <a:solidFill>
            <a:srgbClr val="CFE2F3"/>
          </a:solidFill>
          <a:ln cap="flat" cmpd="sng" w="9525">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GB">
                <a:solidFill>
                  <a:srgbClr val="0B5394"/>
                </a:solidFill>
              </a:rPr>
              <a:t>education</a:t>
            </a:r>
            <a:endParaRPr>
              <a:solidFill>
                <a:srgbClr val="0B5394"/>
              </a:solidFill>
            </a:endParaRPr>
          </a:p>
        </p:txBody>
      </p:sp>
      <p:sp>
        <p:nvSpPr>
          <p:cNvPr id="93" name="Google Shape;93;p17"/>
          <p:cNvSpPr/>
          <p:nvPr/>
        </p:nvSpPr>
        <p:spPr>
          <a:xfrm>
            <a:off x="1374689" y="2099200"/>
            <a:ext cx="2084750" cy="474775"/>
          </a:xfrm>
          <a:prstGeom prst="flowChartPunchedTape">
            <a:avLst/>
          </a:prstGeom>
          <a:solidFill>
            <a:srgbClr val="CFE2F3"/>
          </a:solidFill>
          <a:ln cap="flat" cmpd="sng" w="9525">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GB">
                <a:solidFill>
                  <a:srgbClr val="0B5394"/>
                </a:solidFill>
              </a:rPr>
              <a:t>job</a:t>
            </a:r>
            <a:endParaRPr>
              <a:solidFill>
                <a:srgbClr val="0B5394"/>
              </a:solidFill>
            </a:endParaRPr>
          </a:p>
        </p:txBody>
      </p:sp>
      <p:sp>
        <p:nvSpPr>
          <p:cNvPr id="94" name="Google Shape;94;p17"/>
          <p:cNvSpPr/>
          <p:nvPr/>
        </p:nvSpPr>
        <p:spPr>
          <a:xfrm>
            <a:off x="1374689" y="2571750"/>
            <a:ext cx="2084750" cy="474775"/>
          </a:xfrm>
          <a:prstGeom prst="flowChartPunchedTape">
            <a:avLst/>
          </a:prstGeom>
          <a:solidFill>
            <a:srgbClr val="CFE2F3"/>
          </a:solidFill>
          <a:ln cap="flat" cmpd="sng" w="9525">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GB">
                <a:solidFill>
                  <a:srgbClr val="0B5394"/>
                </a:solidFill>
              </a:rPr>
              <a:t>body_type</a:t>
            </a:r>
            <a:endParaRPr>
              <a:solidFill>
                <a:srgbClr val="0B5394"/>
              </a:solidFill>
            </a:endParaRPr>
          </a:p>
        </p:txBody>
      </p:sp>
      <p:sp>
        <p:nvSpPr>
          <p:cNvPr id="95" name="Google Shape;95;p17"/>
          <p:cNvSpPr/>
          <p:nvPr/>
        </p:nvSpPr>
        <p:spPr>
          <a:xfrm>
            <a:off x="1395314" y="3046525"/>
            <a:ext cx="2084750" cy="474775"/>
          </a:xfrm>
          <a:prstGeom prst="flowChartPunchedTape">
            <a:avLst/>
          </a:prstGeom>
          <a:solidFill>
            <a:srgbClr val="CFE2F3"/>
          </a:solidFill>
          <a:ln cap="flat" cmpd="sng" w="9525">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GB">
                <a:solidFill>
                  <a:srgbClr val="0B5394"/>
                </a:solidFill>
              </a:rPr>
              <a:t>diet</a:t>
            </a:r>
            <a:endParaRPr>
              <a:solidFill>
                <a:srgbClr val="0B5394"/>
              </a:solidFill>
            </a:endParaRPr>
          </a:p>
        </p:txBody>
      </p:sp>
      <p:sp>
        <p:nvSpPr>
          <p:cNvPr id="96" name="Google Shape;96;p17"/>
          <p:cNvSpPr/>
          <p:nvPr/>
        </p:nvSpPr>
        <p:spPr>
          <a:xfrm>
            <a:off x="1214701" y="3802100"/>
            <a:ext cx="2445975" cy="1070925"/>
          </a:xfrm>
          <a:prstGeom prst="flowChartProcess">
            <a:avLst/>
          </a:prstGeom>
          <a:solidFill>
            <a:srgbClr val="CFDFFA"/>
          </a:solidFill>
          <a:ln cap="flat" cmpd="sng" w="9525">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GB">
                <a:solidFill>
                  <a:srgbClr val="0B5394"/>
                </a:solidFill>
              </a:rPr>
              <a:t>Very </a:t>
            </a:r>
            <a:r>
              <a:rPr lang="en-GB">
                <a:solidFill>
                  <a:srgbClr val="0B5394"/>
                </a:solidFill>
              </a:rPr>
              <a:t>skewed</a:t>
            </a:r>
            <a:r>
              <a:rPr lang="en-GB">
                <a:solidFill>
                  <a:srgbClr val="0B5394"/>
                </a:solidFill>
              </a:rPr>
              <a:t> and disperse</a:t>
            </a:r>
            <a:endParaRPr>
              <a:solidFill>
                <a:srgbClr val="0B5394"/>
              </a:solidFill>
            </a:endParaRPr>
          </a:p>
        </p:txBody>
      </p:sp>
      <p:sp>
        <p:nvSpPr>
          <p:cNvPr id="97" name="Google Shape;97;p17"/>
          <p:cNvSpPr/>
          <p:nvPr/>
        </p:nvSpPr>
        <p:spPr>
          <a:xfrm>
            <a:off x="1348901" y="4212475"/>
            <a:ext cx="2146662" cy="474768"/>
          </a:xfrm>
          <a:prstGeom prst="flowChartDocument">
            <a:avLst/>
          </a:prstGeom>
          <a:solidFill>
            <a:srgbClr val="CFE2F3"/>
          </a:solidFill>
          <a:ln cap="flat" cmpd="sng" w="9525">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GB">
                <a:solidFill>
                  <a:srgbClr val="0B5394"/>
                </a:solidFill>
              </a:rPr>
              <a:t>income</a:t>
            </a:r>
            <a:endParaRPr>
              <a:solidFill>
                <a:srgbClr val="0B5394"/>
              </a:solidFill>
            </a:endParaRPr>
          </a:p>
        </p:txBody>
      </p:sp>
      <p:sp>
        <p:nvSpPr>
          <p:cNvPr id="98" name="Google Shape;98;p17"/>
          <p:cNvSpPr/>
          <p:nvPr/>
        </p:nvSpPr>
        <p:spPr>
          <a:xfrm>
            <a:off x="4708225" y="1273550"/>
            <a:ext cx="144300" cy="3599400"/>
          </a:xfrm>
          <a:prstGeom prst="rightBrace">
            <a:avLst>
              <a:gd fmla="val 50000" name="adj1"/>
              <a:gd fmla="val 50000" name="adj2"/>
            </a:avLst>
          </a:prstGeom>
          <a:solidFill>
            <a:srgbClr val="CFDFFA"/>
          </a:solidFill>
          <a:ln cap="flat" cmpd="sng" w="9525">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chemeClr val="dk1"/>
              </a:solidFill>
            </a:endParaRPr>
          </a:p>
        </p:txBody>
      </p:sp>
      <p:sp>
        <p:nvSpPr>
          <p:cNvPr id="99" name="Google Shape;99;p17"/>
          <p:cNvSpPr/>
          <p:nvPr/>
        </p:nvSpPr>
        <p:spPr>
          <a:xfrm>
            <a:off x="5355461" y="2592350"/>
            <a:ext cx="623100" cy="961800"/>
          </a:xfrm>
          <a:prstGeom prst="can">
            <a:avLst>
              <a:gd fmla="val 25000" name="adj"/>
            </a:avLst>
          </a:prstGeom>
          <a:solidFill>
            <a:srgbClr val="CFDFFA"/>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sz="2000">
                <a:solidFill>
                  <a:srgbClr val="0B5394"/>
                </a:solidFill>
              </a:rPr>
              <a:t>B</a:t>
            </a:r>
            <a:endParaRPr sz="2000">
              <a:solidFill>
                <a:srgbClr val="0B5394"/>
              </a:solidFill>
            </a:endParaRPr>
          </a:p>
        </p:txBody>
      </p:sp>
      <p:sp>
        <p:nvSpPr>
          <p:cNvPr id="100" name="Google Shape;100;p17"/>
          <p:cNvSpPr/>
          <p:nvPr/>
        </p:nvSpPr>
        <p:spPr>
          <a:xfrm>
            <a:off x="6035811" y="2592350"/>
            <a:ext cx="623100" cy="961800"/>
          </a:xfrm>
          <a:prstGeom prst="can">
            <a:avLst>
              <a:gd fmla="val 25000" name="adj"/>
            </a:avLst>
          </a:prstGeom>
          <a:solidFill>
            <a:srgbClr val="CFDFFA"/>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sz="2000">
                <a:solidFill>
                  <a:srgbClr val="0B5394"/>
                </a:solidFill>
              </a:rPr>
              <a:t>I</a:t>
            </a:r>
            <a:endParaRPr sz="2000">
              <a:solidFill>
                <a:srgbClr val="0B5394"/>
              </a:solidFill>
            </a:endParaRPr>
          </a:p>
        </p:txBody>
      </p:sp>
      <p:sp>
        <p:nvSpPr>
          <p:cNvPr id="101" name="Google Shape;101;p17"/>
          <p:cNvSpPr/>
          <p:nvPr/>
        </p:nvSpPr>
        <p:spPr>
          <a:xfrm>
            <a:off x="6716161" y="2592350"/>
            <a:ext cx="623100" cy="961800"/>
          </a:xfrm>
          <a:prstGeom prst="can">
            <a:avLst>
              <a:gd fmla="val 25000" name="adj"/>
            </a:avLst>
          </a:prstGeom>
          <a:solidFill>
            <a:srgbClr val="CFDFFA"/>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sz="2000">
                <a:solidFill>
                  <a:srgbClr val="0B5394"/>
                </a:solidFill>
              </a:rPr>
              <a:t>N</a:t>
            </a:r>
            <a:endParaRPr sz="2000">
              <a:solidFill>
                <a:srgbClr val="0B5394"/>
              </a:solidFill>
            </a:endParaRPr>
          </a:p>
        </p:txBody>
      </p:sp>
      <p:sp>
        <p:nvSpPr>
          <p:cNvPr id="102" name="Google Shape;102;p17"/>
          <p:cNvSpPr/>
          <p:nvPr/>
        </p:nvSpPr>
        <p:spPr>
          <a:xfrm>
            <a:off x="7396511" y="2592350"/>
            <a:ext cx="623100" cy="961800"/>
          </a:xfrm>
          <a:prstGeom prst="can">
            <a:avLst>
              <a:gd fmla="val 25000" name="adj"/>
            </a:avLst>
          </a:prstGeom>
          <a:solidFill>
            <a:srgbClr val="CFDFFA"/>
          </a:solid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sz="2000">
                <a:solidFill>
                  <a:srgbClr val="0B5394"/>
                </a:solidFill>
              </a:rPr>
              <a:t>S</a:t>
            </a:r>
            <a:endParaRPr sz="2000">
              <a:solidFill>
                <a:srgbClr val="0B539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BFB"/>
        </a:solidFill>
      </p:bgPr>
    </p:bg>
    <p:spTree>
      <p:nvGrpSpPr>
        <p:cNvPr id="106" name="Shape 106"/>
        <p:cNvGrpSpPr/>
        <p:nvPr/>
      </p:nvGrpSpPr>
      <p:grpSpPr>
        <a:xfrm>
          <a:off x="0" y="0"/>
          <a:ext cx="0" cy="0"/>
          <a:chOff x="0" y="0"/>
          <a:chExt cx="0" cy="0"/>
        </a:xfrm>
      </p:grpSpPr>
      <p:sp>
        <p:nvSpPr>
          <p:cNvPr id="107" name="Google Shape;107;p18"/>
          <p:cNvSpPr txBox="1"/>
          <p:nvPr>
            <p:ph type="title"/>
          </p:nvPr>
        </p:nvSpPr>
        <p:spPr>
          <a:xfrm>
            <a:off x="311700" y="445025"/>
            <a:ext cx="8520600" cy="1004100"/>
          </a:xfrm>
          <a:prstGeom prst="rect">
            <a:avLst/>
          </a:prstGeom>
          <a:effectLst>
            <a:outerShdw blurRad="57150" rotWithShape="0" algn="bl" dir="4200000" dist="19050">
              <a:srgbClr val="BC06BC"/>
            </a:outerShdw>
          </a:effectLst>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GB">
                <a:solidFill>
                  <a:srgbClr val="FDBDD7"/>
                </a:solidFill>
              </a:rPr>
              <a:t>Which profile features are the most </a:t>
            </a:r>
            <a:endParaRPr b="1">
              <a:solidFill>
                <a:srgbClr val="FDBDD7"/>
              </a:solidFill>
            </a:endParaRPr>
          </a:p>
          <a:p>
            <a:pPr indent="0" lvl="0" marL="0" rtl="0" algn="l">
              <a:lnSpc>
                <a:spcPct val="115000"/>
              </a:lnSpc>
              <a:spcBef>
                <a:spcPts val="0"/>
              </a:spcBef>
              <a:spcAft>
                <a:spcPts val="0"/>
              </a:spcAft>
              <a:buNone/>
            </a:pPr>
            <a:r>
              <a:rPr b="1" lang="en-GB">
                <a:solidFill>
                  <a:srgbClr val="FDBDD7"/>
                </a:solidFill>
              </a:rPr>
              <a:t>predictive of self-reported gender on OKCupid?</a:t>
            </a:r>
            <a:endParaRPr b="1">
              <a:solidFill>
                <a:srgbClr val="FDBDD7"/>
              </a:solidFill>
            </a:endParaRPr>
          </a:p>
        </p:txBody>
      </p:sp>
      <p:sp>
        <p:nvSpPr>
          <p:cNvPr id="108" name="Google Shape;108;p18"/>
          <p:cNvSpPr txBox="1"/>
          <p:nvPr>
            <p:ph idx="1" type="body"/>
          </p:nvPr>
        </p:nvSpPr>
        <p:spPr>
          <a:xfrm>
            <a:off x="311700" y="1686375"/>
            <a:ext cx="3999900" cy="3323100"/>
          </a:xfrm>
          <a:prstGeom prst="rect">
            <a:avLst/>
          </a:prstGeom>
          <a:ln cap="flat" cmpd="sng" w="28575">
            <a:solidFill>
              <a:srgbClr val="FDBDD7"/>
            </a:solidFill>
            <a:prstDash val="solid"/>
            <a:round/>
            <a:headEnd len="sm" w="sm" type="none"/>
            <a:tailEnd len="sm" w="sm" type="none"/>
          </a:ln>
        </p:spPr>
        <p:txBody>
          <a:bodyPr anchorCtr="0" anchor="t" bIns="91425" lIns="91425" spcFirstLastPara="1" rIns="91425" wrap="square" tIns="91425">
            <a:normAutofit fontScale="77500" lnSpcReduction="20000"/>
          </a:bodyPr>
          <a:lstStyle/>
          <a:p>
            <a:pPr indent="0" lvl="0" marL="0" rtl="0" algn="l">
              <a:spcBef>
                <a:spcPts val="1400"/>
              </a:spcBef>
              <a:spcAft>
                <a:spcPts val="0"/>
              </a:spcAft>
              <a:buClr>
                <a:schemeClr val="dk1"/>
              </a:buClr>
              <a:buSzPct val="84615"/>
              <a:buFont typeface="Arial"/>
              <a:buNone/>
            </a:pPr>
            <a:r>
              <a:rPr b="1" lang="en-GB" sz="1300">
                <a:solidFill>
                  <a:schemeClr val="dk1"/>
                </a:solidFill>
              </a:rPr>
              <a:t>Logistic Regression</a:t>
            </a:r>
            <a:endParaRPr b="1" sz="1300">
              <a:solidFill>
                <a:schemeClr val="dk1"/>
              </a:solidFill>
            </a:endParaRPr>
          </a:p>
          <a:p>
            <a:pPr indent="-282733" lvl="0" marL="457200" rtl="0" algn="l">
              <a:spcBef>
                <a:spcPts val="1200"/>
              </a:spcBef>
              <a:spcAft>
                <a:spcPts val="0"/>
              </a:spcAft>
              <a:buClr>
                <a:schemeClr val="dk1"/>
              </a:buClr>
              <a:buSzPct val="100000"/>
              <a:buChar char="●"/>
            </a:pPr>
            <a:r>
              <a:rPr b="1" lang="en-GB" sz="1100">
                <a:solidFill>
                  <a:schemeClr val="dk1"/>
                </a:solidFill>
              </a:rPr>
              <a:t>High interpretability</a:t>
            </a:r>
            <a:br>
              <a:rPr b="1" lang="en-GB" sz="1100">
                <a:solidFill>
                  <a:schemeClr val="dk1"/>
                </a:solidFill>
              </a:rPr>
            </a:br>
            <a:r>
              <a:rPr lang="en-GB" sz="1100">
                <a:solidFill>
                  <a:schemeClr val="dk1"/>
                </a:solidFill>
              </a:rPr>
              <a:t> Coefficients directly indicate the direction and magnitude of each feature’s influence, making it easier to explain </a:t>
            </a:r>
            <a:r>
              <a:rPr i="1" lang="en-GB" sz="1100">
                <a:solidFill>
                  <a:schemeClr val="dk1"/>
                </a:solidFill>
              </a:rPr>
              <a:t>why</a:t>
            </a:r>
            <a:r>
              <a:rPr lang="en-GB" sz="1100">
                <a:solidFill>
                  <a:schemeClr val="dk1"/>
                </a:solidFill>
              </a:rPr>
              <a:t> a prediction is made.</a:t>
            </a:r>
            <a:br>
              <a:rPr lang="en-GB" sz="1100">
                <a:solidFill>
                  <a:schemeClr val="dk1"/>
                </a:solidFill>
              </a:rPr>
            </a:br>
            <a:endParaRPr sz="1100">
              <a:solidFill>
                <a:schemeClr val="dk1"/>
              </a:solidFill>
            </a:endParaRPr>
          </a:p>
          <a:p>
            <a:pPr indent="-282733" lvl="0" marL="457200" rtl="0" algn="l">
              <a:spcBef>
                <a:spcPts val="0"/>
              </a:spcBef>
              <a:spcAft>
                <a:spcPts val="0"/>
              </a:spcAft>
              <a:buClr>
                <a:schemeClr val="dk1"/>
              </a:buClr>
              <a:buSzPct val="100000"/>
              <a:buChar char="●"/>
            </a:pPr>
            <a:r>
              <a:rPr b="1" lang="en-GB" sz="1100">
                <a:solidFill>
                  <a:schemeClr val="dk1"/>
                </a:solidFill>
              </a:rPr>
              <a:t>Consistent feature importance</a:t>
            </a:r>
            <a:br>
              <a:rPr b="1" lang="en-GB" sz="1100">
                <a:solidFill>
                  <a:schemeClr val="dk1"/>
                </a:solidFill>
              </a:rPr>
            </a:br>
            <a:r>
              <a:rPr lang="en-GB" sz="1100">
                <a:solidFill>
                  <a:schemeClr val="dk1"/>
                </a:solidFill>
              </a:rPr>
              <a:t> Feature weights are comparable across models and targets, which is essential when analyzing which features matter most overall.</a:t>
            </a:r>
            <a:br>
              <a:rPr lang="en-GB" sz="1100">
                <a:solidFill>
                  <a:schemeClr val="dk1"/>
                </a:solidFill>
              </a:rPr>
            </a:br>
            <a:endParaRPr sz="1100">
              <a:solidFill>
                <a:schemeClr val="dk1"/>
              </a:solidFill>
            </a:endParaRPr>
          </a:p>
          <a:p>
            <a:pPr indent="-282733" lvl="0" marL="457200" rtl="0" algn="l">
              <a:spcBef>
                <a:spcPts val="0"/>
              </a:spcBef>
              <a:spcAft>
                <a:spcPts val="0"/>
              </a:spcAft>
              <a:buClr>
                <a:schemeClr val="dk1"/>
              </a:buClr>
              <a:buSzPct val="100000"/>
              <a:buChar char="●"/>
            </a:pPr>
            <a:r>
              <a:rPr b="1" lang="en-GB" sz="1100">
                <a:solidFill>
                  <a:schemeClr val="dk1"/>
                </a:solidFill>
              </a:rPr>
              <a:t>Efficient and stable</a:t>
            </a:r>
            <a:br>
              <a:rPr b="1" lang="en-GB" sz="1100">
                <a:solidFill>
                  <a:schemeClr val="dk1"/>
                </a:solidFill>
              </a:rPr>
            </a:br>
            <a:r>
              <a:rPr lang="en-GB" sz="1100">
                <a:solidFill>
                  <a:schemeClr val="dk1"/>
                </a:solidFill>
              </a:rPr>
              <a:t> Trains quickly on large datasets and produces stable results with relatively low variance.</a:t>
            </a:r>
            <a:br>
              <a:rPr lang="en-GB" sz="1100">
                <a:solidFill>
                  <a:schemeClr val="dk1"/>
                </a:solidFill>
              </a:rPr>
            </a:br>
            <a:endParaRPr sz="1100">
              <a:solidFill>
                <a:schemeClr val="dk1"/>
              </a:solidFill>
            </a:endParaRPr>
          </a:p>
          <a:p>
            <a:pPr indent="-282733" lvl="0" marL="457200" rtl="0" algn="l">
              <a:spcBef>
                <a:spcPts val="0"/>
              </a:spcBef>
              <a:spcAft>
                <a:spcPts val="0"/>
              </a:spcAft>
              <a:buClr>
                <a:schemeClr val="dk1"/>
              </a:buClr>
              <a:buSzPct val="100000"/>
              <a:buChar char="●"/>
            </a:pPr>
            <a:r>
              <a:rPr b="1" lang="en-GB" sz="1100">
                <a:solidFill>
                  <a:schemeClr val="dk1"/>
                </a:solidFill>
              </a:rPr>
              <a:t>Well suited to one-hot encoded categorical data</a:t>
            </a:r>
            <a:br>
              <a:rPr b="1" lang="en-GB" sz="1100">
                <a:solidFill>
                  <a:schemeClr val="dk1"/>
                </a:solidFill>
              </a:rPr>
            </a:br>
            <a:r>
              <a:rPr lang="en-GB" sz="1100">
                <a:solidFill>
                  <a:schemeClr val="dk1"/>
                </a:solidFill>
              </a:rPr>
              <a:t> Handles sparse, high-dimensional feature spaces reliably.</a:t>
            </a:r>
            <a:br>
              <a:rPr lang="en-GB" sz="1100">
                <a:solidFill>
                  <a:schemeClr val="dk1"/>
                </a:solidFill>
              </a:rPr>
            </a:br>
            <a:endParaRPr sz="1100">
              <a:solidFill>
                <a:schemeClr val="dk1"/>
              </a:solidFill>
            </a:endParaRPr>
          </a:p>
          <a:p>
            <a:pPr indent="-282733" lvl="0" marL="457200" rtl="0" algn="l">
              <a:spcBef>
                <a:spcPts val="0"/>
              </a:spcBef>
              <a:spcAft>
                <a:spcPts val="0"/>
              </a:spcAft>
              <a:buClr>
                <a:schemeClr val="dk1"/>
              </a:buClr>
              <a:buSzPct val="100000"/>
              <a:buChar char="●"/>
            </a:pPr>
            <a:r>
              <a:rPr b="1" lang="en-GB" sz="1100">
                <a:solidFill>
                  <a:schemeClr val="dk1"/>
                </a:solidFill>
              </a:rPr>
              <a:t>Simpler assumptions, clearer insights</a:t>
            </a:r>
            <a:br>
              <a:rPr b="1" lang="en-GB" sz="1100">
                <a:solidFill>
                  <a:schemeClr val="dk1"/>
                </a:solidFill>
              </a:rPr>
            </a:br>
            <a:r>
              <a:rPr lang="en-GB" sz="1100">
                <a:solidFill>
                  <a:schemeClr val="dk1"/>
                </a:solidFill>
              </a:rPr>
              <a:t> While it assumes linear relationships in log-odds, this simplicity enables clearer reasoning about model behavior.</a:t>
            </a:r>
            <a:br>
              <a:rPr lang="en-GB" sz="1100">
                <a:solidFill>
                  <a:schemeClr val="dk1"/>
                </a:solidFill>
              </a:rPr>
            </a:br>
            <a:endParaRPr sz="1100">
              <a:solidFill>
                <a:schemeClr val="dk1"/>
              </a:solidFill>
            </a:endParaRPr>
          </a:p>
          <a:p>
            <a:pPr indent="-282733" lvl="0" marL="457200" rtl="0" algn="l">
              <a:spcBef>
                <a:spcPts val="0"/>
              </a:spcBef>
              <a:spcAft>
                <a:spcPts val="0"/>
              </a:spcAft>
              <a:buClr>
                <a:schemeClr val="dk1"/>
              </a:buClr>
              <a:buSzPct val="100000"/>
              <a:buChar char="●"/>
            </a:pPr>
            <a:r>
              <a:rPr b="1" lang="en-GB" sz="1100">
                <a:solidFill>
                  <a:schemeClr val="dk1"/>
                </a:solidFill>
              </a:rPr>
              <a:t>Ideal for analysis-driven projects</a:t>
            </a:r>
            <a:br>
              <a:rPr b="1" lang="en-GB" sz="1100">
                <a:solidFill>
                  <a:schemeClr val="dk1"/>
                </a:solidFill>
              </a:rPr>
            </a:br>
            <a:r>
              <a:rPr lang="en-GB" sz="1100">
                <a:solidFill>
                  <a:schemeClr val="dk1"/>
                </a:solidFill>
              </a:rPr>
              <a:t> Particularly appropriate when the goal is understanding patterns rather than maximizing predictive accuracy.</a:t>
            </a:r>
            <a:endParaRPr/>
          </a:p>
        </p:txBody>
      </p:sp>
      <p:pic>
        <p:nvPicPr>
          <p:cNvPr id="109" name="Google Shape;109;p18" title="OKCupid.jpg"/>
          <p:cNvPicPr preferRelativeResize="0"/>
          <p:nvPr/>
        </p:nvPicPr>
        <p:blipFill>
          <a:blip r:embed="rId3">
            <a:alphaModFix/>
          </a:blip>
          <a:stretch>
            <a:fillRect/>
          </a:stretch>
        </p:blipFill>
        <p:spPr>
          <a:xfrm>
            <a:off x="6881725" y="445465"/>
            <a:ext cx="1950574" cy="571825"/>
          </a:xfrm>
          <a:prstGeom prst="rect">
            <a:avLst/>
          </a:prstGeom>
          <a:noFill/>
          <a:ln>
            <a:noFill/>
          </a:ln>
        </p:spPr>
      </p:pic>
      <p:sp>
        <p:nvSpPr>
          <p:cNvPr id="110" name="Google Shape;110;p18"/>
          <p:cNvSpPr txBox="1"/>
          <p:nvPr>
            <p:ph idx="2" type="body"/>
          </p:nvPr>
        </p:nvSpPr>
        <p:spPr>
          <a:xfrm>
            <a:off x="4832400" y="1686375"/>
            <a:ext cx="3999900" cy="3323100"/>
          </a:xfrm>
          <a:prstGeom prst="rect">
            <a:avLst/>
          </a:prstGeom>
        </p:spPr>
        <p:txBody>
          <a:bodyPr anchorCtr="0" anchor="t" bIns="91425" lIns="91425" spcFirstLastPara="1" rIns="91425" wrap="square" tIns="91425">
            <a:normAutofit fontScale="85000" lnSpcReduction="20000"/>
          </a:bodyPr>
          <a:lstStyle/>
          <a:p>
            <a:pPr indent="0" lvl="0" marL="0" rtl="0" algn="l">
              <a:spcBef>
                <a:spcPts val="1400"/>
              </a:spcBef>
              <a:spcAft>
                <a:spcPts val="0"/>
              </a:spcAft>
              <a:buClr>
                <a:schemeClr val="dk1"/>
              </a:buClr>
              <a:buSzPct val="84615"/>
              <a:buFont typeface="Arial"/>
              <a:buNone/>
            </a:pPr>
            <a:r>
              <a:rPr b="1" lang="en-GB" sz="1300">
                <a:solidFill>
                  <a:schemeClr val="dk1"/>
                </a:solidFill>
              </a:rPr>
              <a:t>Random Forest Classifier</a:t>
            </a:r>
            <a:endParaRPr b="1" sz="1300">
              <a:solidFill>
                <a:schemeClr val="dk1"/>
              </a:solidFill>
            </a:endParaRPr>
          </a:p>
          <a:p>
            <a:pPr indent="-287972" lvl="0" marL="457200" rtl="0" algn="l">
              <a:spcBef>
                <a:spcPts val="1200"/>
              </a:spcBef>
              <a:spcAft>
                <a:spcPts val="0"/>
              </a:spcAft>
              <a:buClr>
                <a:schemeClr val="dk1"/>
              </a:buClr>
              <a:buSzPct val="100000"/>
              <a:buChar char="●"/>
            </a:pPr>
            <a:r>
              <a:rPr b="1" lang="en-GB" sz="1100">
                <a:solidFill>
                  <a:schemeClr val="dk1"/>
                </a:solidFill>
              </a:rPr>
              <a:t>Captures nonlinear relationships and interactions</a:t>
            </a:r>
            <a:br>
              <a:rPr b="1" lang="en-GB" sz="1100">
                <a:solidFill>
                  <a:schemeClr val="dk1"/>
                </a:solidFill>
              </a:rPr>
            </a:br>
            <a:r>
              <a:rPr lang="en-GB" sz="1100">
                <a:solidFill>
                  <a:schemeClr val="dk1"/>
                </a:solidFill>
              </a:rPr>
              <a:t> Automatically models complex feature interactions without manual engineering.</a:t>
            </a:r>
            <a:br>
              <a:rPr lang="en-GB"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b="1" lang="en-GB" sz="1100">
                <a:solidFill>
                  <a:schemeClr val="dk1"/>
                </a:solidFill>
              </a:rPr>
              <a:t>Often higher raw predictive performance</a:t>
            </a:r>
            <a:br>
              <a:rPr b="1" lang="en-GB" sz="1100">
                <a:solidFill>
                  <a:schemeClr val="dk1"/>
                </a:solidFill>
              </a:rPr>
            </a:br>
            <a:r>
              <a:rPr lang="en-GB" sz="1100">
                <a:solidFill>
                  <a:schemeClr val="dk1"/>
                </a:solidFill>
              </a:rPr>
              <a:t> Can outperform linear models in tasks where relationships are highly nonlinear.</a:t>
            </a:r>
            <a:br>
              <a:rPr lang="en-GB"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b="1" lang="en-GB" sz="1100">
                <a:solidFill>
                  <a:schemeClr val="dk1"/>
                </a:solidFill>
              </a:rPr>
              <a:t>Less interpretable feature importance</a:t>
            </a:r>
            <a:br>
              <a:rPr b="1" lang="en-GB" sz="1100">
                <a:solidFill>
                  <a:schemeClr val="dk1"/>
                </a:solidFill>
              </a:rPr>
            </a:br>
            <a:r>
              <a:rPr lang="en-GB" sz="1100">
                <a:solidFill>
                  <a:schemeClr val="dk1"/>
                </a:solidFill>
              </a:rPr>
              <a:t> Importance scores are aggregate measures that do not show directionality and are harder to compare across models.</a:t>
            </a:r>
            <a:br>
              <a:rPr lang="en-GB"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b="1" lang="en-GB" sz="1100">
                <a:solidFill>
                  <a:schemeClr val="dk1"/>
                </a:solidFill>
              </a:rPr>
              <a:t>More computationally expensive</a:t>
            </a:r>
            <a:br>
              <a:rPr b="1" lang="en-GB" sz="1100">
                <a:solidFill>
                  <a:schemeClr val="dk1"/>
                </a:solidFill>
              </a:rPr>
            </a:br>
            <a:r>
              <a:rPr lang="en-GB" sz="1100">
                <a:solidFill>
                  <a:schemeClr val="dk1"/>
                </a:solidFill>
              </a:rPr>
              <a:t> Requires more resources and tuning, especially with large feature sets.</a:t>
            </a:r>
            <a:br>
              <a:rPr lang="en-GB"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b="1" lang="en-GB" sz="1100">
                <a:solidFill>
                  <a:schemeClr val="dk1"/>
                </a:solidFill>
              </a:rPr>
              <a:t>Feature importance can be biased</a:t>
            </a:r>
            <a:br>
              <a:rPr b="1" lang="en-GB" sz="1100">
                <a:solidFill>
                  <a:schemeClr val="dk1"/>
                </a:solidFill>
              </a:rPr>
            </a:br>
            <a:r>
              <a:rPr lang="en-GB" sz="1100">
                <a:solidFill>
                  <a:schemeClr val="dk1"/>
                </a:solidFill>
              </a:rPr>
              <a:t> Tends to favor features with many categories or higher variance.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BFB"/>
        </a:solidFill>
      </p:bgPr>
    </p:bg>
    <p:spTree>
      <p:nvGrpSpPr>
        <p:cNvPr id="114" name="Shape 114"/>
        <p:cNvGrpSpPr/>
        <p:nvPr/>
      </p:nvGrpSpPr>
      <p:grpSpPr>
        <a:xfrm>
          <a:off x="0" y="0"/>
          <a:ext cx="0" cy="0"/>
          <a:chOff x="0" y="0"/>
          <a:chExt cx="0" cy="0"/>
        </a:xfrm>
      </p:grpSpPr>
      <p:sp>
        <p:nvSpPr>
          <p:cNvPr id="115" name="Google Shape;115;p19"/>
          <p:cNvSpPr txBox="1"/>
          <p:nvPr>
            <p:ph type="title"/>
          </p:nvPr>
        </p:nvSpPr>
        <p:spPr>
          <a:xfrm>
            <a:off x="311700" y="445025"/>
            <a:ext cx="8520600" cy="1004100"/>
          </a:xfrm>
          <a:prstGeom prst="rect">
            <a:avLst/>
          </a:prstGeom>
          <a:effectLst>
            <a:outerShdw blurRad="57150" rotWithShape="0" algn="bl" dir="4200000" dist="19050">
              <a:srgbClr val="BC06BC"/>
            </a:outerShdw>
          </a:effectLst>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GB">
                <a:solidFill>
                  <a:srgbClr val="FDBDD7"/>
                </a:solidFill>
              </a:rPr>
              <a:t>Can lifestyle and demographic features </a:t>
            </a:r>
            <a:endParaRPr b="1">
              <a:solidFill>
                <a:srgbClr val="FDBDD7"/>
              </a:solidFill>
            </a:endParaRPr>
          </a:p>
          <a:p>
            <a:pPr indent="0" lvl="0" marL="0" rtl="0" algn="l">
              <a:lnSpc>
                <a:spcPct val="115000"/>
              </a:lnSpc>
              <a:spcBef>
                <a:spcPts val="0"/>
              </a:spcBef>
              <a:spcAft>
                <a:spcPts val="0"/>
              </a:spcAft>
              <a:buNone/>
            </a:pPr>
            <a:r>
              <a:rPr b="1" lang="en-GB">
                <a:solidFill>
                  <a:srgbClr val="FDBDD7"/>
                </a:solidFill>
              </a:rPr>
              <a:t>predict whether a user owns pets?</a:t>
            </a:r>
            <a:endParaRPr b="1">
              <a:solidFill>
                <a:srgbClr val="FDBDD7"/>
              </a:solidFill>
            </a:endParaRPr>
          </a:p>
        </p:txBody>
      </p:sp>
      <p:pic>
        <p:nvPicPr>
          <p:cNvPr id="116" name="Google Shape;116;p19" title="OKCupid.jpg"/>
          <p:cNvPicPr preferRelativeResize="0"/>
          <p:nvPr/>
        </p:nvPicPr>
        <p:blipFill>
          <a:blip r:embed="rId3">
            <a:alphaModFix/>
          </a:blip>
          <a:stretch>
            <a:fillRect/>
          </a:stretch>
        </p:blipFill>
        <p:spPr>
          <a:xfrm>
            <a:off x="6881725" y="445465"/>
            <a:ext cx="1950574" cy="571825"/>
          </a:xfrm>
          <a:prstGeom prst="rect">
            <a:avLst/>
          </a:prstGeom>
          <a:noFill/>
          <a:ln>
            <a:noFill/>
          </a:ln>
        </p:spPr>
      </p:pic>
      <p:graphicFrame>
        <p:nvGraphicFramePr>
          <p:cNvPr id="117" name="Google Shape;117;p19"/>
          <p:cNvGraphicFramePr/>
          <p:nvPr/>
        </p:nvGraphicFramePr>
        <p:xfrm>
          <a:off x="311700" y="1449150"/>
          <a:ext cx="3000000" cy="3000000"/>
        </p:xfrm>
        <a:graphic>
          <a:graphicData uri="http://schemas.openxmlformats.org/drawingml/2006/table">
            <a:tbl>
              <a:tblPr>
                <a:noFill/>
                <a:tableStyleId>{69567988-A6AF-498E-A766-414DEA3F8C55}</a:tableStyleId>
              </a:tblPr>
              <a:tblGrid>
                <a:gridCol w="2175600"/>
                <a:gridCol w="2194850"/>
                <a:gridCol w="4150150"/>
              </a:tblGrid>
              <a:tr h="172475">
                <a:tc>
                  <a:txBody>
                    <a:bodyPr/>
                    <a:lstStyle/>
                    <a:p>
                      <a:pPr indent="0" lvl="0" marL="0" rtl="0" algn="ctr">
                        <a:lnSpc>
                          <a:spcPct val="80000"/>
                        </a:lnSpc>
                        <a:spcBef>
                          <a:spcPts val="0"/>
                        </a:spcBef>
                        <a:spcAft>
                          <a:spcPts val="0"/>
                        </a:spcAft>
                        <a:buNone/>
                      </a:pPr>
                      <a:r>
                        <a:rPr b="1" lang="en-GB" sz="1100" u="sng"/>
                        <a:t>Logistic Regression</a:t>
                      </a:r>
                      <a:endParaRPr b="1" sz="1100" u="sng"/>
                    </a:p>
                  </a:txBody>
                  <a:tcPr marT="91425" marB="91425" marR="91425" marL="91425"/>
                </a:tc>
                <a:tc>
                  <a:txBody>
                    <a:bodyPr/>
                    <a:lstStyle/>
                    <a:p>
                      <a:pPr indent="0" lvl="0" marL="0" rtl="0" algn="ctr">
                        <a:lnSpc>
                          <a:spcPct val="80000"/>
                        </a:lnSpc>
                        <a:spcBef>
                          <a:spcPts val="0"/>
                        </a:spcBef>
                        <a:spcAft>
                          <a:spcPts val="0"/>
                        </a:spcAft>
                        <a:buNone/>
                      </a:pPr>
                      <a:r>
                        <a:rPr b="1" lang="en-GB" sz="1100" u="sng"/>
                        <a:t>Multiclass Logistic Regression</a:t>
                      </a:r>
                      <a:endParaRPr b="1" sz="1100" u="sng"/>
                    </a:p>
                  </a:txBody>
                  <a:tcPr marT="91425" marB="91425" marR="91425" marL="91425"/>
                </a:tc>
                <a:tc>
                  <a:txBody>
                    <a:bodyPr/>
                    <a:lstStyle/>
                    <a:p>
                      <a:pPr indent="0" lvl="0" marL="0" rtl="0" algn="ctr">
                        <a:lnSpc>
                          <a:spcPct val="80000"/>
                        </a:lnSpc>
                        <a:spcBef>
                          <a:spcPts val="0"/>
                        </a:spcBef>
                        <a:spcAft>
                          <a:spcPts val="0"/>
                        </a:spcAft>
                        <a:buClr>
                          <a:schemeClr val="dk1"/>
                        </a:buClr>
                        <a:buSzPts val="1100"/>
                        <a:buFont typeface="Arial"/>
                        <a:buNone/>
                      </a:pPr>
                      <a:r>
                        <a:rPr b="1" lang="en-GB" sz="1100" u="sng">
                          <a:solidFill>
                            <a:schemeClr val="dk1"/>
                          </a:solidFill>
                        </a:rPr>
                        <a:t>Both</a:t>
                      </a:r>
                      <a:endParaRPr b="1" sz="1100" u="sng"/>
                    </a:p>
                  </a:txBody>
                  <a:tcPr marT="91425" marB="91425" marR="91425" marL="91425">
                    <a:lnB cap="flat" cmpd="sng" w="9525">
                      <a:solidFill>
                        <a:srgbClr val="9E9E9E"/>
                      </a:solidFill>
                      <a:prstDash val="solid"/>
                      <a:round/>
                      <a:headEnd len="sm" w="sm" type="none"/>
                      <a:tailEnd len="sm" w="sm" type="none"/>
                    </a:lnB>
                  </a:tcPr>
                </a:tc>
              </a:tr>
              <a:tr h="193125">
                <a:tc gridSpan="2">
                  <a:txBody>
                    <a:bodyPr/>
                    <a:lstStyle/>
                    <a:p>
                      <a:pPr indent="0" lvl="0" marL="0" rtl="0" algn="l">
                        <a:lnSpc>
                          <a:spcPct val="80000"/>
                        </a:lnSpc>
                        <a:spcBef>
                          <a:spcPts val="0"/>
                        </a:spcBef>
                        <a:spcAft>
                          <a:spcPts val="0"/>
                        </a:spcAft>
                        <a:buNone/>
                      </a:pPr>
                      <a:r>
                        <a:rPr b="1" lang="en-GB" sz="1100"/>
                        <a:t>Clear problem structure - </a:t>
                      </a:r>
                      <a:r>
                        <a:rPr lang="en-GB" sz="900">
                          <a:solidFill>
                            <a:schemeClr val="dk1"/>
                          </a:solidFill>
                        </a:rPr>
                        <a:t>The pets analysis naturally separates into two related classification tasks:</a:t>
                      </a:r>
                      <a:endParaRPr b="1" sz="900"/>
                    </a:p>
                  </a:txBody>
                  <a:tcPr marT="91425" marB="91425" marR="91425" marL="91425">
                    <a:lnR cap="flat" cmpd="sng" w="9525">
                      <a:solidFill>
                        <a:srgbClr val="9E9E9E"/>
                      </a:solidFill>
                      <a:prstDash val="solid"/>
                      <a:round/>
                      <a:headEnd len="sm" w="sm" type="none"/>
                      <a:tailEnd len="sm" w="sm" type="none"/>
                    </a:lnR>
                  </a:tcPr>
                </a:tc>
                <a:tc hMerge="1"/>
                <a:tc>
                  <a:txBody>
                    <a:bodyPr/>
                    <a:lstStyle/>
                    <a:p>
                      <a:pPr indent="0" lvl="0" marL="0" rtl="0" algn="l">
                        <a:lnSpc>
                          <a:spcPct val="80000"/>
                        </a:lnSpc>
                        <a:spcBef>
                          <a:spcPts val="0"/>
                        </a:spcBef>
                        <a:spcAft>
                          <a:spcPts val="0"/>
                        </a:spcAft>
                        <a:buNone/>
                      </a:pPr>
                      <a:r>
                        <a:rPr b="1" lang="en-GB" sz="1100">
                          <a:solidFill>
                            <a:schemeClr val="dk1"/>
                          </a:solidFill>
                        </a:rPr>
                        <a:t>Comparable feature importance - </a:t>
                      </a:r>
                      <a:r>
                        <a:rPr lang="en-GB" sz="900">
                          <a:solidFill>
                            <a:schemeClr val="dk1"/>
                          </a:solidFill>
                        </a:rPr>
                        <a:t>Coefficient magnitudes can be aggregated and compared across both models, enabling analysis of which original features consistently matter in pet-related predictions.</a:t>
                      </a:r>
                      <a:endParaRPr b="1" sz="1100" u="sng"/>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9400">
                <a:tc>
                  <a:txBody>
                    <a:bodyPr/>
                    <a:lstStyle/>
                    <a:p>
                      <a:pPr indent="0" lvl="0" marL="0" rtl="0" algn="l">
                        <a:lnSpc>
                          <a:spcPct val="80000"/>
                        </a:lnSpc>
                        <a:spcBef>
                          <a:spcPts val="0"/>
                        </a:spcBef>
                        <a:spcAft>
                          <a:spcPts val="0"/>
                        </a:spcAft>
                        <a:buNone/>
                      </a:pPr>
                      <a:r>
                        <a:rPr lang="en-GB" sz="900"/>
                        <a:t>Binary: Whether a user owns a pet or not</a:t>
                      </a:r>
                      <a:endParaRPr sz="900"/>
                    </a:p>
                  </a:txBody>
                  <a:tcPr marT="91425" marB="91425" marR="91425" marL="91425"/>
                </a:tc>
                <a:tc>
                  <a:txBody>
                    <a:bodyPr/>
                    <a:lstStyle/>
                    <a:p>
                      <a:pPr indent="0" lvl="0" marL="0" rtl="0" algn="l">
                        <a:lnSpc>
                          <a:spcPct val="80000"/>
                        </a:lnSpc>
                        <a:spcBef>
                          <a:spcPts val="0"/>
                        </a:spcBef>
                        <a:spcAft>
                          <a:spcPts val="0"/>
                        </a:spcAft>
                        <a:buNone/>
                      </a:pPr>
                      <a:r>
                        <a:rPr lang="en-GB" sz="900"/>
                        <a:t>Multiclass: What type of pet the user has</a:t>
                      </a:r>
                      <a:endParaRPr sz="9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lnSpc>
                          <a:spcPct val="80000"/>
                        </a:lnSpc>
                        <a:spcBef>
                          <a:spcPts val="0"/>
                        </a:spcBef>
                        <a:spcAft>
                          <a:spcPts val="0"/>
                        </a:spcAft>
                        <a:buNone/>
                      </a:pPr>
                      <a:r>
                        <a:rPr b="1" lang="en-GB" sz="1100">
                          <a:solidFill>
                            <a:schemeClr val="dk1"/>
                          </a:solidFill>
                        </a:rPr>
                        <a:t>Well suited to categorical, one-hot encoded data - </a:t>
                      </a:r>
                      <a:r>
                        <a:rPr lang="en-GB" sz="900">
                          <a:solidFill>
                            <a:schemeClr val="dk1"/>
                          </a:solidFill>
                        </a:rPr>
                        <a:t>Most pet-related predictors (job, education, lifestyle choices) are categorical and sparse after encoding, a setting where logistic regression performs reliably.</a:t>
                      </a:r>
                      <a:endParaRPr b="1" sz="11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31175">
                <a:tc gridSpan="2">
                  <a:txBody>
                    <a:bodyPr/>
                    <a:lstStyle/>
                    <a:p>
                      <a:pPr indent="0" lvl="0" marL="0" rtl="0" algn="l">
                        <a:lnSpc>
                          <a:spcPct val="80000"/>
                        </a:lnSpc>
                        <a:spcBef>
                          <a:spcPts val="0"/>
                        </a:spcBef>
                        <a:spcAft>
                          <a:spcPts val="0"/>
                        </a:spcAft>
                        <a:buNone/>
                      </a:pPr>
                      <a:r>
                        <a:rPr b="1" lang="en-GB" sz="1100"/>
                        <a:t>Logistic regression matches the target types</a:t>
                      </a:r>
                      <a:endParaRPr b="1" sz="1100"/>
                    </a:p>
                  </a:txBody>
                  <a:tcPr marT="91425" marB="91425" marR="91425" marL="91425">
                    <a:lnR cap="flat" cmpd="sng" w="9525">
                      <a:solidFill>
                        <a:srgbClr val="9E9E9E"/>
                      </a:solidFill>
                      <a:prstDash val="solid"/>
                      <a:round/>
                      <a:headEnd len="sm" w="sm" type="none"/>
                      <a:tailEnd len="sm" w="sm" type="none"/>
                    </a:lnR>
                  </a:tcPr>
                </a:tc>
                <a:tc hMerge="1"/>
                <a:tc>
                  <a:txBody>
                    <a:bodyPr/>
                    <a:lstStyle/>
                    <a:p>
                      <a:pPr indent="0" lvl="0" marL="0" rtl="0" algn="l">
                        <a:lnSpc>
                          <a:spcPct val="80000"/>
                        </a:lnSpc>
                        <a:spcBef>
                          <a:spcPts val="0"/>
                        </a:spcBef>
                        <a:spcAft>
                          <a:spcPts val="0"/>
                        </a:spcAft>
                        <a:buNone/>
                      </a:pPr>
                      <a:r>
                        <a:rPr b="1" lang="en-GB" sz="1100">
                          <a:solidFill>
                            <a:schemeClr val="dk1"/>
                          </a:solidFill>
                        </a:rPr>
                        <a:t>Handles class imbalance effectively - </a:t>
                      </a:r>
                      <a:r>
                        <a:rPr lang="en-GB" sz="900">
                          <a:solidFill>
                            <a:schemeClr val="dk1"/>
                          </a:solidFill>
                        </a:rPr>
                        <a:t>The use of </a:t>
                      </a:r>
                      <a:r>
                        <a:rPr lang="en-GB" sz="900">
                          <a:solidFill>
                            <a:schemeClr val="dk1"/>
                          </a:solidFill>
                          <a:highlight>
                            <a:srgbClr val="FDBDD7"/>
                          </a:highlight>
                          <a:latin typeface="Roboto Mono"/>
                          <a:ea typeface="Roboto Mono"/>
                          <a:cs typeface="Roboto Mono"/>
                          <a:sym typeface="Roboto Mono"/>
                        </a:rPr>
                        <a:t>class_weight='balanced'</a:t>
                      </a:r>
                      <a:r>
                        <a:rPr lang="en-GB" sz="900">
                          <a:solidFill>
                            <a:schemeClr val="dk1"/>
                          </a:solidFill>
                        </a:rPr>
                        <a:t> helps mitigate skewed class distributions, particularly important for the less common pet-type categories.</a:t>
                      </a:r>
                      <a:endParaRPr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24225">
                <a:tc>
                  <a:txBody>
                    <a:bodyPr/>
                    <a:lstStyle/>
                    <a:p>
                      <a:pPr indent="0" lvl="0" marL="0" rtl="0" algn="l">
                        <a:lnSpc>
                          <a:spcPct val="80000"/>
                        </a:lnSpc>
                        <a:spcBef>
                          <a:spcPts val="0"/>
                        </a:spcBef>
                        <a:spcAft>
                          <a:spcPts val="0"/>
                        </a:spcAft>
                        <a:buNone/>
                      </a:pPr>
                      <a:r>
                        <a:rPr lang="en-GB" sz="900"/>
                        <a:t>Well suited for predicting pet ownership (yes/no)</a:t>
                      </a:r>
                      <a:endParaRPr sz="900"/>
                    </a:p>
                  </a:txBody>
                  <a:tcPr marT="91425" marB="91425" marR="91425" marL="91425"/>
                </a:tc>
                <a:tc>
                  <a:txBody>
                    <a:bodyPr/>
                    <a:lstStyle/>
                    <a:p>
                      <a:pPr indent="0" lvl="0" marL="0" rtl="0" algn="l">
                        <a:lnSpc>
                          <a:spcPct val="80000"/>
                        </a:lnSpc>
                        <a:spcBef>
                          <a:spcPts val="0"/>
                        </a:spcBef>
                        <a:spcAft>
                          <a:spcPts val="0"/>
                        </a:spcAft>
                        <a:buNone/>
                      </a:pPr>
                      <a:r>
                        <a:rPr lang="en-GB" sz="900"/>
                        <a:t>Extends the same framework to </a:t>
                      </a:r>
                      <a:r>
                        <a:rPr lang="en-GB" sz="900"/>
                        <a:t>predict</a:t>
                      </a:r>
                      <a:r>
                        <a:rPr lang="en-GB" sz="900"/>
                        <a:t> the pet type without changing the underlying modeling approach</a:t>
                      </a:r>
                      <a:endParaRPr sz="9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lnSpc>
                          <a:spcPct val="80000"/>
                        </a:lnSpc>
                        <a:spcBef>
                          <a:spcPts val="0"/>
                        </a:spcBef>
                        <a:spcAft>
                          <a:spcPts val="0"/>
                        </a:spcAft>
                        <a:buNone/>
                      </a:pPr>
                      <a:r>
                        <a:rPr b="1" lang="en-GB" sz="1100">
                          <a:solidFill>
                            <a:schemeClr val="dk1"/>
                          </a:solidFill>
                        </a:rPr>
                        <a:t>Avoids unnecessary model complexity - </a:t>
                      </a:r>
                      <a:r>
                        <a:rPr lang="en-GB" sz="900">
                          <a:solidFill>
                            <a:schemeClr val="dk1"/>
                          </a:solidFill>
                        </a:rPr>
                        <a:t>More complex models (e.g., Random Forests) could capture nonlinear interactions, but would reduce transparency and complicate interpretation without substantially improving performance for this task.</a:t>
                      </a:r>
                      <a:endParaRPr b="1" sz="11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06825">
                <a:tc gridSpan="2">
                  <a:txBody>
                    <a:bodyPr/>
                    <a:lstStyle/>
                    <a:p>
                      <a:pPr indent="0" lvl="0" marL="0" rtl="0" algn="l">
                        <a:lnSpc>
                          <a:spcPct val="80000"/>
                        </a:lnSpc>
                        <a:spcBef>
                          <a:spcPts val="0"/>
                        </a:spcBef>
                        <a:spcAft>
                          <a:spcPts val="0"/>
                        </a:spcAft>
                        <a:buNone/>
                      </a:pPr>
                      <a:r>
                        <a:rPr b="1" lang="en-GB" sz="1100"/>
                        <a:t>Interpretability across both stages - </a:t>
                      </a:r>
                      <a:r>
                        <a:rPr lang="en-GB" sz="900"/>
                        <a:t>Using logistic regression in both steps allows coefficients to be interpreted consistently, making it easier to understand which features influence:</a:t>
                      </a:r>
                      <a:endParaRPr sz="900"/>
                    </a:p>
                  </a:txBody>
                  <a:tcPr marT="91425" marB="91425" marR="91425" marL="91425">
                    <a:lnR cap="flat" cmpd="sng" w="9525">
                      <a:solidFill>
                        <a:srgbClr val="9E9E9E"/>
                      </a:solidFill>
                      <a:prstDash val="solid"/>
                      <a:round/>
                      <a:headEnd len="sm" w="sm" type="none"/>
                      <a:tailEnd len="sm" w="sm" type="none"/>
                    </a:lnR>
                  </a:tcPr>
                </a:tc>
                <a:tc hMerge="1"/>
                <a:tc>
                  <a:txBody>
                    <a:bodyPr/>
                    <a:lstStyle/>
                    <a:p>
                      <a:pPr indent="0" lvl="0" marL="0" rtl="0" algn="l">
                        <a:lnSpc>
                          <a:spcPct val="80000"/>
                        </a:lnSpc>
                        <a:spcBef>
                          <a:spcPts val="0"/>
                        </a:spcBef>
                        <a:spcAft>
                          <a:spcPts val="0"/>
                        </a:spcAft>
                        <a:buNone/>
                      </a:pPr>
                      <a:r>
                        <a:rPr b="1" lang="en-GB" sz="1100">
                          <a:solidFill>
                            <a:schemeClr val="dk1"/>
                          </a:solidFill>
                        </a:rPr>
                        <a:t>Aligned with project goals - </a:t>
                      </a:r>
                      <a:r>
                        <a:rPr lang="en-GB" sz="900">
                          <a:solidFill>
                            <a:schemeClr val="dk1"/>
                          </a:solidFill>
                        </a:rPr>
                        <a:t>The objective was to understand patterns and drivers behind pet ownership and pet type, not solely to maximize prediction accuracy.</a:t>
                      </a:r>
                      <a:endParaRPr b="1" sz="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99400">
                <a:tc>
                  <a:txBody>
                    <a:bodyPr/>
                    <a:lstStyle/>
                    <a:p>
                      <a:pPr indent="0" lvl="0" marL="0" rtl="0" algn="l">
                        <a:lnSpc>
                          <a:spcPct val="80000"/>
                        </a:lnSpc>
                        <a:spcBef>
                          <a:spcPts val="0"/>
                        </a:spcBef>
                        <a:spcAft>
                          <a:spcPts val="0"/>
                        </a:spcAft>
                        <a:buNone/>
                      </a:pPr>
                      <a:r>
                        <a:rPr lang="en-GB" sz="900"/>
                        <a:t>the likelihood of owning a pet</a:t>
                      </a:r>
                      <a:endParaRPr sz="900"/>
                    </a:p>
                  </a:txBody>
                  <a:tcPr marT="91425" marB="91425" marR="91425" marL="91425"/>
                </a:tc>
                <a:tc>
                  <a:txBody>
                    <a:bodyPr/>
                    <a:lstStyle/>
                    <a:p>
                      <a:pPr indent="0" lvl="0" marL="0" rtl="0" algn="l">
                        <a:lnSpc>
                          <a:spcPct val="80000"/>
                        </a:lnSpc>
                        <a:spcBef>
                          <a:spcPts val="0"/>
                        </a:spcBef>
                        <a:spcAft>
                          <a:spcPts val="0"/>
                        </a:spcAft>
                        <a:buNone/>
                      </a:pPr>
                      <a:r>
                        <a:rPr lang="en-GB" sz="900"/>
                        <a:t>the type of pet owned, conditional on ownership</a:t>
                      </a:r>
                      <a:endParaRPr sz="900"/>
                    </a:p>
                  </a:txBody>
                  <a:tcPr marT="91425" marB="91425" marR="91425" marL="91425"/>
                </a:tc>
                <a:tc>
                  <a:txBody>
                    <a:bodyPr/>
                    <a:lstStyle/>
                    <a:p>
                      <a:pPr indent="0" lvl="0" marL="0" rtl="0" algn="l">
                        <a:lnSpc>
                          <a:spcPct val="80000"/>
                        </a:lnSpc>
                        <a:spcBef>
                          <a:spcPts val="0"/>
                        </a:spcBef>
                        <a:spcAft>
                          <a:spcPts val="0"/>
                        </a:spcAft>
                        <a:buNone/>
                      </a:pPr>
                      <a:r>
                        <a:t/>
                      </a:r>
                      <a:endParaRPr sz="900"/>
                    </a:p>
                  </a:txBody>
                  <a:tcPr marT="91425" marB="91425" marR="91425" marL="91425">
                    <a:lnT cap="flat" cmpd="sng" w="9525">
                      <a:solidFill>
                        <a:srgbClr val="9E9E9E"/>
                      </a:solidFill>
                      <a:prstDash val="solid"/>
                      <a:round/>
                      <a:headEnd len="sm" w="sm" type="none"/>
                      <a:tailEnd len="sm" w="sm" type="none"/>
                    </a:lnT>
                  </a:tcPr>
                </a:tc>
              </a:tr>
            </a:tbl>
          </a:graphicData>
        </a:graphic>
      </p:graphicFrame>
      <p:sp>
        <p:nvSpPr>
          <p:cNvPr id="118" name="Google Shape;118;p19"/>
          <p:cNvSpPr/>
          <p:nvPr/>
        </p:nvSpPr>
        <p:spPr>
          <a:xfrm>
            <a:off x="2284725" y="1487176"/>
            <a:ext cx="404700" cy="404700"/>
          </a:xfrm>
          <a:prstGeom prst="mathPlus">
            <a:avLst>
              <a:gd fmla="val 23520" name="adj1"/>
            </a:avLst>
          </a:prstGeom>
          <a:solidFill>
            <a:srgbClr val="CFDFFA"/>
          </a:solidFill>
          <a:ln cap="flat" cmpd="sng" w="9525">
            <a:solidFill>
              <a:srgbClr val="3C78D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0B5394"/>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BFB"/>
        </a:solidFill>
      </p:bgPr>
    </p:bg>
    <p:spTree>
      <p:nvGrpSpPr>
        <p:cNvPr id="122" name="Shape 122"/>
        <p:cNvGrpSpPr/>
        <p:nvPr/>
      </p:nvGrpSpPr>
      <p:grpSpPr>
        <a:xfrm>
          <a:off x="0" y="0"/>
          <a:ext cx="0" cy="0"/>
          <a:chOff x="0" y="0"/>
          <a:chExt cx="0" cy="0"/>
        </a:xfrm>
      </p:grpSpPr>
      <p:sp>
        <p:nvSpPr>
          <p:cNvPr id="123" name="Google Shape;123;p20"/>
          <p:cNvSpPr txBox="1"/>
          <p:nvPr>
            <p:ph type="title"/>
          </p:nvPr>
        </p:nvSpPr>
        <p:spPr>
          <a:xfrm>
            <a:off x="311700" y="445025"/>
            <a:ext cx="8520600" cy="1004100"/>
          </a:xfrm>
          <a:prstGeom prst="rect">
            <a:avLst/>
          </a:prstGeom>
          <a:effectLst>
            <a:outerShdw blurRad="57150" rotWithShape="0" algn="bl" dir="4200000" dist="19050">
              <a:srgbClr val="BC06BC"/>
            </a:outerShdw>
          </a:effectLst>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GB">
                <a:solidFill>
                  <a:srgbClr val="FDBDD7"/>
                </a:solidFill>
              </a:rPr>
              <a:t>How accurately can a user's income be </a:t>
            </a:r>
            <a:endParaRPr b="1">
              <a:solidFill>
                <a:srgbClr val="FDBDD7"/>
              </a:solidFill>
            </a:endParaRPr>
          </a:p>
          <a:p>
            <a:pPr indent="0" lvl="0" marL="0" rtl="0" algn="l">
              <a:lnSpc>
                <a:spcPct val="115000"/>
              </a:lnSpc>
              <a:spcBef>
                <a:spcPts val="0"/>
              </a:spcBef>
              <a:spcAft>
                <a:spcPts val="0"/>
              </a:spcAft>
              <a:buNone/>
            </a:pPr>
            <a:r>
              <a:rPr b="1" lang="en-GB">
                <a:solidFill>
                  <a:srgbClr val="FDBDD7"/>
                </a:solidFill>
              </a:rPr>
              <a:t>predicted based on demographic features?</a:t>
            </a:r>
            <a:endParaRPr b="1">
              <a:solidFill>
                <a:srgbClr val="FDBDD7"/>
              </a:solidFill>
            </a:endParaRPr>
          </a:p>
        </p:txBody>
      </p:sp>
      <p:sp>
        <p:nvSpPr>
          <p:cNvPr id="124" name="Google Shape;124;p20"/>
          <p:cNvSpPr txBox="1"/>
          <p:nvPr>
            <p:ph idx="1" type="body"/>
          </p:nvPr>
        </p:nvSpPr>
        <p:spPr>
          <a:xfrm>
            <a:off x="311700" y="1686375"/>
            <a:ext cx="4130700" cy="3323100"/>
          </a:xfrm>
          <a:prstGeom prst="rect">
            <a:avLst/>
          </a:prstGeom>
          <a:ln>
            <a:noFill/>
          </a:ln>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en-GB" sz="1300">
                <a:solidFill>
                  <a:schemeClr val="dk1"/>
                </a:solidFill>
              </a:rPr>
              <a:t>Random Forest Regressor</a:t>
            </a:r>
            <a:endParaRPr b="1" sz="1300">
              <a:solidFill>
                <a:schemeClr val="dk1"/>
              </a:solidFill>
            </a:endParaRPr>
          </a:p>
          <a:p>
            <a:pPr indent="-311150" lvl="0" marL="457200" rtl="0" algn="l">
              <a:spcBef>
                <a:spcPts val="1200"/>
              </a:spcBef>
              <a:spcAft>
                <a:spcPts val="0"/>
              </a:spcAft>
              <a:buClr>
                <a:schemeClr val="dk1"/>
              </a:buClr>
              <a:buSzPts val="1300"/>
              <a:buChar char="●"/>
            </a:pPr>
            <a:r>
              <a:rPr lang="en-GB" sz="1300">
                <a:solidFill>
                  <a:schemeClr val="dk1"/>
                </a:solidFill>
              </a:rPr>
              <a:t>Goal: Predict numeric outcome ✔️</a:t>
            </a:r>
            <a:endParaRPr sz="1300">
              <a:solidFill>
                <a:schemeClr val="dk1"/>
              </a:solidFill>
            </a:endParaRPr>
          </a:p>
          <a:p>
            <a:pPr indent="0" lvl="0" marL="457200" rtl="0" algn="l">
              <a:spcBef>
                <a:spcPts val="1200"/>
              </a:spcBef>
              <a:spcAft>
                <a:spcPts val="0"/>
              </a:spcAft>
              <a:buNone/>
            </a:pPr>
            <a:r>
              <a:t/>
            </a:r>
            <a:endParaRPr sz="1300">
              <a:solidFill>
                <a:schemeClr val="dk1"/>
              </a:solidFill>
            </a:endParaRPr>
          </a:p>
          <a:p>
            <a:pPr indent="-311150" lvl="0" marL="457200" rtl="0" algn="l">
              <a:spcBef>
                <a:spcPts val="1200"/>
              </a:spcBef>
              <a:spcAft>
                <a:spcPts val="0"/>
              </a:spcAft>
              <a:buClr>
                <a:schemeClr val="dk1"/>
              </a:buClr>
              <a:buSzPts val="1300"/>
              <a:buChar char="●"/>
            </a:pPr>
            <a:r>
              <a:rPr lang="en-GB" sz="1300">
                <a:solidFill>
                  <a:schemeClr val="dk1"/>
                </a:solidFill>
              </a:rPr>
              <a:t>“Want to estimate income value directly✔️</a:t>
            </a:r>
            <a:endParaRPr sz="1300">
              <a:solidFill>
                <a:schemeClr val="dk1"/>
              </a:solidFill>
            </a:endParaRPr>
          </a:p>
          <a:p>
            <a:pPr indent="0" lvl="0" marL="457200" rtl="0" algn="l">
              <a:spcBef>
                <a:spcPts val="1200"/>
              </a:spcBef>
              <a:spcAft>
                <a:spcPts val="0"/>
              </a:spcAft>
              <a:buNone/>
            </a:pPr>
            <a:r>
              <a:t/>
            </a:r>
            <a:endParaRPr sz="1300">
              <a:solidFill>
                <a:schemeClr val="dk1"/>
              </a:solidFill>
            </a:endParaRPr>
          </a:p>
          <a:p>
            <a:pPr indent="-311150" lvl="0" marL="457200" rtl="0" algn="l">
              <a:spcBef>
                <a:spcPts val="1200"/>
              </a:spcBef>
              <a:spcAft>
                <a:spcPts val="0"/>
              </a:spcAft>
              <a:buClr>
                <a:schemeClr val="dk1"/>
              </a:buClr>
              <a:buSzPts val="1300"/>
              <a:buChar char="●"/>
            </a:pPr>
            <a:r>
              <a:rPr lang="en-GB" sz="1300">
                <a:solidFill>
                  <a:schemeClr val="dk1"/>
                </a:solidFill>
              </a:rPr>
              <a:t>Can capture complex, non-linear relationships in data7✔️</a:t>
            </a:r>
            <a:endParaRPr sz="1300">
              <a:solidFill>
                <a:schemeClr val="dk1"/>
              </a:solidFill>
            </a:endParaRPr>
          </a:p>
          <a:p>
            <a:pPr indent="0" lvl="0" marL="0" rtl="0" algn="l">
              <a:spcBef>
                <a:spcPts val="1200"/>
              </a:spcBef>
              <a:spcAft>
                <a:spcPts val="0"/>
              </a:spcAft>
              <a:buNone/>
            </a:pPr>
            <a:r>
              <a:t/>
            </a:r>
            <a:endParaRPr sz="1300">
              <a:solidFill>
                <a:schemeClr val="dk1"/>
              </a:solidFill>
            </a:endParaRPr>
          </a:p>
          <a:p>
            <a:pPr indent="-311150" lvl="0" marL="457200" rtl="0" algn="l">
              <a:spcBef>
                <a:spcPts val="1200"/>
              </a:spcBef>
              <a:spcAft>
                <a:spcPts val="0"/>
              </a:spcAft>
              <a:buClr>
                <a:schemeClr val="dk1"/>
              </a:buClr>
              <a:buSzPts val="1300"/>
              <a:buChar char="●"/>
            </a:pPr>
            <a:r>
              <a:rPr lang="en-GB" sz="1300">
                <a:solidFill>
                  <a:schemeClr val="dk1"/>
                </a:solidFill>
              </a:rPr>
              <a:t>Target not numeric ❌</a:t>
            </a:r>
            <a:endParaRPr sz="1300">
              <a:solidFill>
                <a:schemeClr val="dk1"/>
              </a:solidFill>
            </a:endParaRPr>
          </a:p>
          <a:p>
            <a:pPr indent="0" lvl="0" marL="457200" rtl="0" algn="l">
              <a:spcBef>
                <a:spcPts val="1200"/>
              </a:spcBef>
              <a:spcAft>
                <a:spcPts val="1200"/>
              </a:spcAft>
              <a:buNone/>
            </a:pPr>
            <a:r>
              <a:t/>
            </a:r>
            <a:endParaRPr b="1" sz="1300">
              <a:solidFill>
                <a:schemeClr val="dk1"/>
              </a:solidFill>
            </a:endParaRPr>
          </a:p>
        </p:txBody>
      </p:sp>
      <p:pic>
        <p:nvPicPr>
          <p:cNvPr id="125" name="Google Shape;125;p20" title="OKCupid.jpg"/>
          <p:cNvPicPr preferRelativeResize="0"/>
          <p:nvPr/>
        </p:nvPicPr>
        <p:blipFill>
          <a:blip r:embed="rId3">
            <a:alphaModFix/>
          </a:blip>
          <a:stretch>
            <a:fillRect/>
          </a:stretch>
        </p:blipFill>
        <p:spPr>
          <a:xfrm>
            <a:off x="6881725" y="445465"/>
            <a:ext cx="1950574" cy="571825"/>
          </a:xfrm>
          <a:prstGeom prst="rect">
            <a:avLst/>
          </a:prstGeom>
          <a:noFill/>
          <a:ln>
            <a:noFill/>
          </a:ln>
        </p:spPr>
      </p:pic>
      <p:sp>
        <p:nvSpPr>
          <p:cNvPr id="126" name="Google Shape;126;p20"/>
          <p:cNvSpPr txBox="1"/>
          <p:nvPr>
            <p:ph idx="2" type="body"/>
          </p:nvPr>
        </p:nvSpPr>
        <p:spPr>
          <a:xfrm>
            <a:off x="4572000" y="1686375"/>
            <a:ext cx="4260300" cy="3323100"/>
          </a:xfrm>
          <a:prstGeom prst="rect">
            <a:avLst/>
          </a:prstGeom>
          <a:ln cap="flat" cmpd="sng" w="28575">
            <a:solidFill>
              <a:srgbClr val="FDBDD7"/>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400"/>
              </a:spcBef>
              <a:spcAft>
                <a:spcPts val="0"/>
              </a:spcAft>
              <a:buNone/>
            </a:pPr>
            <a:r>
              <a:rPr b="1" lang="en-GB" sz="1300">
                <a:solidFill>
                  <a:schemeClr val="dk1"/>
                </a:solidFill>
              </a:rPr>
              <a:t>Random Forest Classifier</a:t>
            </a:r>
            <a:endParaRPr b="1"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Goal: Predict a class label (bin) </a:t>
            </a:r>
            <a:r>
              <a:rPr lang="en-GB" sz="1300">
                <a:solidFill>
                  <a:schemeClr val="dk1"/>
                </a:solidFill>
              </a:rPr>
              <a:t>✔️</a:t>
            </a:r>
            <a:endParaRPr sz="1300">
              <a:solidFill>
                <a:schemeClr val="dk1"/>
              </a:solidFill>
            </a:endParaRPr>
          </a:p>
          <a:p>
            <a:pPr indent="0" lvl="0" marL="457200" rtl="0" algn="l">
              <a:spcBef>
                <a:spcPts val="1200"/>
              </a:spcBef>
              <a:spcAft>
                <a:spcPts val="0"/>
              </a:spcAft>
              <a:buNone/>
            </a:pPr>
            <a:r>
              <a:t/>
            </a:r>
            <a:endParaRPr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In keeping with problem type: classification into a bin </a:t>
            </a:r>
            <a:r>
              <a:rPr lang="en-GB" sz="1300">
                <a:solidFill>
                  <a:schemeClr val="dk1"/>
                </a:solidFill>
              </a:rPr>
              <a:t>✔️</a:t>
            </a:r>
            <a:endParaRPr sz="1300">
              <a:solidFill>
                <a:schemeClr val="dk1"/>
              </a:solidFill>
            </a:endParaRPr>
          </a:p>
          <a:p>
            <a:pPr indent="0" lvl="0" marL="457200" rtl="0" algn="l">
              <a:spcBef>
                <a:spcPts val="1200"/>
              </a:spcBef>
              <a:spcAft>
                <a:spcPts val="0"/>
              </a:spcAft>
              <a:buNone/>
            </a:pPr>
            <a:r>
              <a:t/>
            </a:r>
            <a:endParaRPr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Robust to overfitting, can output class probabilities </a:t>
            </a:r>
            <a:r>
              <a:rPr lang="en-GB" sz="1300">
                <a:solidFill>
                  <a:schemeClr val="dk1"/>
                </a:solidFill>
              </a:rPr>
              <a:t>✔️</a:t>
            </a:r>
            <a:endParaRPr sz="1300">
              <a:solidFill>
                <a:schemeClr val="dk1"/>
              </a:solidFill>
            </a:endParaRPr>
          </a:p>
          <a:p>
            <a:pPr indent="0" lvl="0" marL="457200" rtl="0" algn="l">
              <a:spcBef>
                <a:spcPts val="1200"/>
              </a:spcBef>
              <a:spcAft>
                <a:spcPts val="0"/>
              </a:spcAft>
              <a:buNone/>
            </a:pPr>
            <a:r>
              <a:t/>
            </a:r>
            <a:endParaRPr sz="13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Model performance aligned with the type of output we needed </a:t>
            </a:r>
            <a:r>
              <a:rPr lang="en-GB" sz="1300">
                <a:solidFill>
                  <a:schemeClr val="dk1"/>
                </a:solidFill>
              </a:rPr>
              <a:t>✔️</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BFB"/>
        </a:solidFill>
      </p:bgPr>
    </p:bg>
    <p:spTree>
      <p:nvGrpSpPr>
        <p:cNvPr id="130" name="Shape 130"/>
        <p:cNvGrpSpPr/>
        <p:nvPr/>
      </p:nvGrpSpPr>
      <p:grpSpPr>
        <a:xfrm>
          <a:off x="0" y="0"/>
          <a:ext cx="0" cy="0"/>
          <a:chOff x="0" y="0"/>
          <a:chExt cx="0" cy="0"/>
        </a:xfrm>
      </p:grpSpPr>
      <p:sp>
        <p:nvSpPr>
          <p:cNvPr id="131" name="Google Shape;131;p21"/>
          <p:cNvSpPr txBox="1"/>
          <p:nvPr>
            <p:ph type="title"/>
          </p:nvPr>
        </p:nvSpPr>
        <p:spPr>
          <a:xfrm>
            <a:off x="311700" y="445025"/>
            <a:ext cx="8520600" cy="1004100"/>
          </a:xfrm>
          <a:prstGeom prst="rect">
            <a:avLst/>
          </a:prstGeom>
          <a:effectLst>
            <a:outerShdw blurRad="57150" rotWithShape="0" algn="bl" dir="4200000" dist="19050">
              <a:srgbClr val="BC06BC"/>
            </a:outerShdw>
          </a:effectLst>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GB">
                <a:solidFill>
                  <a:srgbClr val="FDBDD7"/>
                </a:solidFill>
              </a:rPr>
              <a:t>Which features consistently matter most </a:t>
            </a:r>
            <a:endParaRPr b="1">
              <a:solidFill>
                <a:srgbClr val="FDBDD7"/>
              </a:solidFill>
            </a:endParaRPr>
          </a:p>
          <a:p>
            <a:pPr indent="0" lvl="0" marL="0" rtl="0" algn="l">
              <a:lnSpc>
                <a:spcPct val="115000"/>
              </a:lnSpc>
              <a:spcBef>
                <a:spcPts val="0"/>
              </a:spcBef>
              <a:spcAft>
                <a:spcPts val="0"/>
              </a:spcAft>
              <a:buNone/>
            </a:pPr>
            <a:r>
              <a:rPr b="1" lang="en-GB">
                <a:solidFill>
                  <a:srgbClr val="FDBDD7"/>
                </a:solidFill>
              </a:rPr>
              <a:t>across different prediction tasks and models?</a:t>
            </a:r>
            <a:endParaRPr b="1">
              <a:solidFill>
                <a:srgbClr val="FDBDD7"/>
              </a:solidFill>
            </a:endParaRPr>
          </a:p>
        </p:txBody>
      </p:sp>
      <p:pic>
        <p:nvPicPr>
          <p:cNvPr id="132" name="Google Shape;132;p21" title="OKCupid.jpg"/>
          <p:cNvPicPr preferRelativeResize="0"/>
          <p:nvPr/>
        </p:nvPicPr>
        <p:blipFill>
          <a:blip r:embed="rId3">
            <a:alphaModFix/>
          </a:blip>
          <a:stretch>
            <a:fillRect/>
          </a:stretch>
        </p:blipFill>
        <p:spPr>
          <a:xfrm>
            <a:off x="6881725" y="445465"/>
            <a:ext cx="1950574" cy="571825"/>
          </a:xfrm>
          <a:prstGeom prst="rect">
            <a:avLst/>
          </a:prstGeom>
          <a:noFill/>
          <a:ln>
            <a:noFill/>
          </a:ln>
        </p:spPr>
      </p:pic>
      <p:graphicFrame>
        <p:nvGraphicFramePr>
          <p:cNvPr id="133" name="Google Shape;133;p21"/>
          <p:cNvGraphicFramePr/>
          <p:nvPr/>
        </p:nvGraphicFramePr>
        <p:xfrm>
          <a:off x="2352800" y="1839725"/>
          <a:ext cx="3000000" cy="3000000"/>
        </p:xfrm>
        <a:graphic>
          <a:graphicData uri="http://schemas.openxmlformats.org/drawingml/2006/table">
            <a:tbl>
              <a:tblPr>
                <a:noFill/>
                <a:tableStyleId>{69567988-A6AF-498E-A766-414DEA3F8C55}</a:tableStyleId>
              </a:tblPr>
              <a:tblGrid>
                <a:gridCol w="327000"/>
                <a:gridCol w="835200"/>
                <a:gridCol w="1018225"/>
                <a:gridCol w="1230125"/>
                <a:gridCol w="1027850"/>
              </a:tblGrid>
              <a:tr h="241325">
                <a:tc>
                  <a:txBody>
                    <a:bodyPr/>
                    <a:lstStyle/>
                    <a:p>
                      <a:pPr indent="0" lvl="0" marL="0" rtl="0" algn="r">
                        <a:lnSpc>
                          <a:spcPct val="115000"/>
                        </a:lnSpc>
                        <a:spcBef>
                          <a:spcPts val="0"/>
                        </a:spcBef>
                        <a:spcAft>
                          <a:spcPts val="1000"/>
                        </a:spcAft>
                        <a:buNone/>
                      </a:pPr>
                      <a:r>
                        <a:t/>
                      </a:r>
                      <a:endParaRPr b="1" sz="1200"/>
                    </a:p>
                  </a:txBody>
                  <a:tcPr marT="63500" marB="63500" marR="63500" marL="63500" anchor="ctr">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1000"/>
                        </a:spcAft>
                        <a:buNone/>
                      </a:pPr>
                      <a:r>
                        <a:rPr b="1" lang="en-GB" sz="1200"/>
                        <a:t>feature</a:t>
                      </a:r>
                      <a:endParaRPr b="1" sz="1200"/>
                    </a:p>
                  </a:txBody>
                  <a:tcPr marT="63500" marB="63500" marR="63500" marL="635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lstStyle/>
                    <a:p>
                      <a:pPr indent="0" lvl="0" marL="0" rtl="0" algn="ctr">
                        <a:lnSpc>
                          <a:spcPct val="115000"/>
                        </a:lnSpc>
                        <a:spcBef>
                          <a:spcPts val="0"/>
                        </a:spcBef>
                        <a:spcAft>
                          <a:spcPts val="1000"/>
                        </a:spcAft>
                        <a:buNone/>
                      </a:pPr>
                      <a:r>
                        <a:rPr b="1" lang="en-GB" sz="1200"/>
                        <a:t>rank_sum</a:t>
                      </a:r>
                      <a:endParaRPr b="1" sz="1200"/>
                    </a:p>
                  </a:txBody>
                  <a:tcPr marT="63500" marB="63500" marR="63500" marL="635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lstStyle/>
                    <a:p>
                      <a:pPr indent="0" lvl="0" marL="0" rtl="0" algn="ctr">
                        <a:lnSpc>
                          <a:spcPct val="115000"/>
                        </a:lnSpc>
                        <a:spcBef>
                          <a:spcPts val="0"/>
                        </a:spcBef>
                        <a:spcAft>
                          <a:spcPts val="1000"/>
                        </a:spcAft>
                        <a:buNone/>
                      </a:pPr>
                      <a:r>
                        <a:rPr b="1" lang="en-GB" sz="1200"/>
                        <a:t>appearances</a:t>
                      </a:r>
                      <a:endParaRPr b="1" sz="1200"/>
                    </a:p>
                  </a:txBody>
                  <a:tcPr marT="63500" marB="63500" marR="63500" marL="635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lstStyle/>
                    <a:p>
                      <a:pPr indent="0" lvl="0" marL="0" rtl="0" algn="ctr">
                        <a:lnSpc>
                          <a:spcPct val="115000"/>
                        </a:lnSpc>
                        <a:spcBef>
                          <a:spcPts val="0"/>
                        </a:spcBef>
                        <a:spcAft>
                          <a:spcPts val="1000"/>
                        </a:spcAft>
                        <a:buNone/>
                      </a:pPr>
                      <a:r>
                        <a:rPr b="1" lang="en-GB" sz="1200"/>
                        <a:t>final_score</a:t>
                      </a:r>
                      <a:endParaRPr b="1" sz="1200"/>
                    </a:p>
                  </a:txBody>
                  <a:tcPr marT="63500" marB="63500" marR="63500" marL="635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r>
              <a:tr h="241325">
                <a:tc>
                  <a:txBody>
                    <a:bodyPr/>
                    <a:lstStyle/>
                    <a:p>
                      <a:pPr indent="0" lvl="0" marL="0" rtl="0" algn="r">
                        <a:lnSpc>
                          <a:spcPct val="115000"/>
                        </a:lnSpc>
                        <a:spcBef>
                          <a:spcPts val="0"/>
                        </a:spcBef>
                        <a:spcAft>
                          <a:spcPts val="1000"/>
                        </a:spcAft>
                        <a:buNone/>
                      </a:pPr>
                      <a:r>
                        <a:rPr b="1" lang="en-GB" sz="1000"/>
                        <a:t>1</a:t>
                      </a:r>
                      <a:endParaRPr b="1"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body</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8</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4</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2.00</a:t>
                      </a:r>
                      <a:endParaRPr sz="1000"/>
                    </a:p>
                  </a:txBody>
                  <a:tcPr marT="63500" marB="63500" marR="63500" marL="63500" anchor="ctr"/>
                </a:tc>
              </a:tr>
              <a:tr h="241325">
                <a:tc>
                  <a:txBody>
                    <a:bodyPr/>
                    <a:lstStyle/>
                    <a:p>
                      <a:pPr indent="0" lvl="0" marL="0" rtl="0" algn="r">
                        <a:lnSpc>
                          <a:spcPct val="115000"/>
                        </a:lnSpc>
                        <a:spcBef>
                          <a:spcPts val="0"/>
                        </a:spcBef>
                        <a:spcAft>
                          <a:spcPts val="1000"/>
                        </a:spcAft>
                        <a:buNone/>
                      </a:pPr>
                      <a:r>
                        <a:rPr b="1" lang="en-GB" sz="1000"/>
                        <a:t>6</a:t>
                      </a:r>
                      <a:endParaRPr b="1"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job</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8</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4</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2.00</a:t>
                      </a:r>
                      <a:endParaRPr sz="1000"/>
                    </a:p>
                  </a:txBody>
                  <a:tcPr marT="63500" marB="63500" marR="63500" marL="63500" anchor="ctr"/>
                </a:tc>
              </a:tr>
              <a:tr h="241325">
                <a:tc>
                  <a:txBody>
                    <a:bodyPr/>
                    <a:lstStyle/>
                    <a:p>
                      <a:pPr indent="0" lvl="0" marL="0" rtl="0" algn="r">
                        <a:lnSpc>
                          <a:spcPct val="115000"/>
                        </a:lnSpc>
                        <a:spcBef>
                          <a:spcPts val="0"/>
                        </a:spcBef>
                        <a:spcAft>
                          <a:spcPts val="1000"/>
                        </a:spcAft>
                        <a:buNone/>
                      </a:pPr>
                      <a:r>
                        <a:rPr b="1" lang="en-GB" sz="1000"/>
                        <a:t>4</a:t>
                      </a:r>
                      <a:endParaRPr b="1"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education</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10</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3</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4.50</a:t>
                      </a:r>
                      <a:endParaRPr sz="1000"/>
                    </a:p>
                  </a:txBody>
                  <a:tcPr marT="63500" marB="63500" marR="63500" marL="63500" anchor="ctr"/>
                </a:tc>
              </a:tr>
              <a:tr h="241325">
                <a:tc>
                  <a:txBody>
                    <a:bodyPr/>
                    <a:lstStyle/>
                    <a:p>
                      <a:pPr indent="0" lvl="0" marL="0" rtl="0" algn="r">
                        <a:lnSpc>
                          <a:spcPct val="115000"/>
                        </a:lnSpc>
                        <a:spcBef>
                          <a:spcPts val="0"/>
                        </a:spcBef>
                        <a:spcAft>
                          <a:spcPts val="1000"/>
                        </a:spcAft>
                        <a:buNone/>
                      </a:pPr>
                      <a:r>
                        <a:rPr b="1" lang="en-GB" sz="1000"/>
                        <a:t>3</a:t>
                      </a:r>
                      <a:endParaRPr b="1"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drinks</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19</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4</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4.75</a:t>
                      </a:r>
                      <a:endParaRPr sz="1000"/>
                    </a:p>
                  </a:txBody>
                  <a:tcPr marT="63500" marB="63500" marR="63500" marL="63500" anchor="ctr"/>
                </a:tc>
              </a:tr>
              <a:tr h="241325">
                <a:tc>
                  <a:txBody>
                    <a:bodyPr/>
                    <a:lstStyle/>
                    <a:p>
                      <a:pPr indent="0" lvl="0" marL="0" rtl="0" algn="r">
                        <a:lnSpc>
                          <a:spcPct val="115000"/>
                        </a:lnSpc>
                        <a:spcBef>
                          <a:spcPts val="0"/>
                        </a:spcBef>
                        <a:spcAft>
                          <a:spcPts val="1000"/>
                        </a:spcAft>
                        <a:buNone/>
                      </a:pPr>
                      <a:r>
                        <a:rPr b="1" lang="en-GB" sz="1000"/>
                        <a:t>2</a:t>
                      </a:r>
                      <a:endParaRPr b="1"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diet</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22</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4</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5.50</a:t>
                      </a:r>
                      <a:endParaRPr sz="1000"/>
                    </a:p>
                  </a:txBody>
                  <a:tcPr marT="63500" marB="63500" marR="63500" marL="63500" anchor="ctr"/>
                </a:tc>
              </a:tr>
              <a:tr h="241325">
                <a:tc>
                  <a:txBody>
                    <a:bodyPr/>
                    <a:lstStyle/>
                    <a:p>
                      <a:pPr indent="0" lvl="0" marL="0" rtl="0" algn="r">
                        <a:lnSpc>
                          <a:spcPct val="115000"/>
                        </a:lnSpc>
                        <a:spcBef>
                          <a:spcPts val="0"/>
                        </a:spcBef>
                        <a:spcAft>
                          <a:spcPts val="1000"/>
                        </a:spcAft>
                        <a:buNone/>
                      </a:pPr>
                      <a:r>
                        <a:rPr b="1" lang="en-GB" sz="1000"/>
                        <a:t>8</a:t>
                      </a:r>
                      <a:endParaRPr b="1"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smokes</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23</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4</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5.75</a:t>
                      </a:r>
                      <a:endParaRPr sz="1000"/>
                    </a:p>
                  </a:txBody>
                  <a:tcPr marT="63500" marB="63500" marR="63500" marL="63500" anchor="ctr"/>
                </a:tc>
              </a:tr>
              <a:tr h="241325">
                <a:tc>
                  <a:txBody>
                    <a:bodyPr/>
                    <a:lstStyle/>
                    <a:p>
                      <a:pPr indent="0" lvl="0" marL="0" rtl="0" algn="r">
                        <a:lnSpc>
                          <a:spcPct val="115000"/>
                        </a:lnSpc>
                        <a:spcBef>
                          <a:spcPts val="0"/>
                        </a:spcBef>
                        <a:spcAft>
                          <a:spcPts val="1000"/>
                        </a:spcAft>
                        <a:buNone/>
                      </a:pPr>
                      <a:r>
                        <a:rPr b="1" lang="en-GB" sz="1000"/>
                        <a:t>5</a:t>
                      </a:r>
                      <a:endParaRPr b="1"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height</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8</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2</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6.00</a:t>
                      </a:r>
                      <a:endParaRPr sz="1000"/>
                    </a:p>
                  </a:txBody>
                  <a:tcPr marT="63500" marB="63500" marR="63500" marL="63500" anchor="ctr"/>
                </a:tc>
              </a:tr>
              <a:tr h="241325">
                <a:tc>
                  <a:txBody>
                    <a:bodyPr/>
                    <a:lstStyle/>
                    <a:p>
                      <a:pPr indent="0" lvl="0" marL="0" rtl="0" algn="r">
                        <a:lnSpc>
                          <a:spcPct val="115000"/>
                        </a:lnSpc>
                        <a:spcBef>
                          <a:spcPts val="0"/>
                        </a:spcBef>
                        <a:spcAft>
                          <a:spcPts val="1000"/>
                        </a:spcAft>
                        <a:buNone/>
                      </a:pPr>
                      <a:r>
                        <a:rPr b="1" lang="en-GB" sz="1000"/>
                        <a:t>0</a:t>
                      </a:r>
                      <a:endParaRPr b="1"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age</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1</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1</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6.25</a:t>
                      </a:r>
                      <a:endParaRPr sz="1000"/>
                    </a:p>
                  </a:txBody>
                  <a:tcPr marT="63500" marB="63500" marR="63500" marL="63500" anchor="ctr"/>
                </a:tc>
              </a:tr>
              <a:tr h="241325">
                <a:tc>
                  <a:txBody>
                    <a:bodyPr/>
                    <a:lstStyle/>
                    <a:p>
                      <a:pPr indent="0" lvl="0" marL="0" rtl="0" algn="r">
                        <a:lnSpc>
                          <a:spcPct val="115000"/>
                        </a:lnSpc>
                        <a:spcBef>
                          <a:spcPts val="0"/>
                        </a:spcBef>
                        <a:spcAft>
                          <a:spcPts val="1000"/>
                        </a:spcAft>
                        <a:buNone/>
                      </a:pPr>
                      <a:r>
                        <a:rPr b="1" lang="en-GB" sz="1000"/>
                        <a:t>7</a:t>
                      </a:r>
                      <a:endParaRPr b="1"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sex</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13</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2</a:t>
                      </a:r>
                      <a:endParaRPr sz="1000"/>
                    </a:p>
                  </a:txBody>
                  <a:tcPr marT="63500" marB="63500" marR="63500" marL="63500" anchor="ctr"/>
                </a:tc>
                <a:tc>
                  <a:txBody>
                    <a:bodyPr/>
                    <a:lstStyle/>
                    <a:p>
                      <a:pPr indent="0" lvl="0" marL="0" rtl="0" algn="ctr">
                        <a:lnSpc>
                          <a:spcPct val="115000"/>
                        </a:lnSpc>
                        <a:spcBef>
                          <a:spcPts val="0"/>
                        </a:spcBef>
                        <a:spcAft>
                          <a:spcPts val="1000"/>
                        </a:spcAft>
                        <a:buNone/>
                      </a:pPr>
                      <a:r>
                        <a:rPr lang="en-GB" sz="1000"/>
                        <a:t>7.25</a:t>
                      </a:r>
                      <a:endParaRPr sz="1000"/>
                    </a:p>
                  </a:txBody>
                  <a:tcPr marT="63500" marB="63500" marR="63500" marL="63500"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BFB"/>
        </a:solidFill>
      </p:bgPr>
    </p:bg>
    <p:spTree>
      <p:nvGrpSpPr>
        <p:cNvPr id="137" name="Shape 137"/>
        <p:cNvGrpSpPr/>
        <p:nvPr/>
      </p:nvGrpSpPr>
      <p:grpSpPr>
        <a:xfrm>
          <a:off x="0" y="0"/>
          <a:ext cx="0" cy="0"/>
          <a:chOff x="0" y="0"/>
          <a:chExt cx="0" cy="0"/>
        </a:xfrm>
      </p:grpSpPr>
      <p:sp>
        <p:nvSpPr>
          <p:cNvPr id="138" name="Google Shape;138;p22"/>
          <p:cNvSpPr txBox="1"/>
          <p:nvPr>
            <p:ph type="title"/>
          </p:nvPr>
        </p:nvSpPr>
        <p:spPr>
          <a:xfrm>
            <a:off x="311700" y="445025"/>
            <a:ext cx="8520600" cy="572700"/>
          </a:xfrm>
          <a:prstGeom prst="rect">
            <a:avLst/>
          </a:prstGeom>
          <a:effectLst>
            <a:outerShdw blurRad="57150" rotWithShape="0" algn="bl" dir="4200000" dist="19050">
              <a:srgbClr val="BC06BC"/>
            </a:outerShdw>
          </a:effectLst>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n-GB">
                <a:solidFill>
                  <a:srgbClr val="FDBDD7"/>
                </a:solidFill>
              </a:rPr>
              <a:t>Conclusion</a:t>
            </a:r>
            <a:endParaRPr b="1">
              <a:solidFill>
                <a:srgbClr val="FDBDD7"/>
              </a:solidFill>
            </a:endParaRPr>
          </a:p>
        </p:txBody>
      </p:sp>
      <p:sp>
        <p:nvSpPr>
          <p:cNvPr id="139" name="Google Shape;13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GB" sz="1100">
                <a:solidFill>
                  <a:schemeClr val="dk1"/>
                </a:solidFill>
              </a:rPr>
              <a:t>Personal lifestyle and socioeconomic features (e.g., </a:t>
            </a:r>
            <a:r>
              <a:rPr b="1" lang="en-GB" sz="1100">
                <a:solidFill>
                  <a:schemeClr val="dk1"/>
                </a:solidFill>
              </a:rPr>
              <a:t>job, body_type</a:t>
            </a:r>
            <a:r>
              <a:rPr lang="en-GB" sz="1100">
                <a:solidFill>
                  <a:schemeClr val="dk1"/>
                </a:solidFill>
              </a:rPr>
              <a:t>) moderately predict attributes like </a:t>
            </a:r>
            <a:r>
              <a:rPr b="1" lang="en-GB" sz="1100">
                <a:solidFill>
                  <a:schemeClr val="dk1"/>
                </a:solidFill>
              </a:rPr>
              <a:t>pet ownership, income, and sex</a:t>
            </a:r>
            <a:r>
              <a:rPr lang="en-GB" sz="1100">
                <a:solidFill>
                  <a:schemeClr val="dk1"/>
                </a:solidFill>
              </a:rPr>
              <a:t>.</a:t>
            </a:r>
            <a:br>
              <a:rPr lang="en-GB"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b="1" lang="en-GB" sz="1100">
                <a:solidFill>
                  <a:schemeClr val="dk1"/>
                </a:solidFill>
              </a:rPr>
              <a:t>Lifestyle variables</a:t>
            </a:r>
            <a:r>
              <a:rPr lang="en-GB" sz="1100">
                <a:solidFill>
                  <a:schemeClr val="dk1"/>
                </a:solidFill>
              </a:rPr>
              <a:t> (drinks, diet, smokes) are often more predictive than demographics alone (age, height).</a:t>
            </a:r>
            <a:br>
              <a:rPr lang="en-GB"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b="1" lang="en-GB" sz="1100">
                <a:solidFill>
                  <a:schemeClr val="dk1"/>
                </a:solidFill>
              </a:rPr>
              <a:t>Pet ownership</a:t>
            </a:r>
            <a:r>
              <a:rPr lang="en-GB" sz="1100">
                <a:solidFill>
                  <a:schemeClr val="dk1"/>
                </a:solidFill>
              </a:rPr>
              <a:t> reflects broader socioeconomic constraints (work schedule, housing, income) inferred from profile data.</a:t>
            </a:r>
            <a:br>
              <a:rPr lang="en-GB"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b="1" lang="en-GB" sz="1100">
                <a:solidFill>
                  <a:schemeClr val="dk1"/>
                </a:solidFill>
              </a:rPr>
              <a:t>Consistency across models</a:t>
            </a:r>
            <a:r>
              <a:rPr lang="en-GB" sz="1100">
                <a:solidFill>
                  <a:schemeClr val="dk1"/>
                </a:solidFill>
              </a:rPr>
              <a:t> is a stronger signal of real-world relevance than importance in a single model.</a:t>
            </a:r>
            <a:br>
              <a:rPr lang="en-GB"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lang="en-GB" sz="1100">
                <a:solidFill>
                  <a:schemeClr val="dk1"/>
                </a:solidFill>
              </a:rPr>
              <a:t>Models show predictability but not determinism—people with similar profiles can make different life choices.</a:t>
            </a:r>
            <a:endParaRPr/>
          </a:p>
        </p:txBody>
      </p:sp>
      <p:pic>
        <p:nvPicPr>
          <p:cNvPr id="140" name="Google Shape;140;p22" title="OKCupid.jpg"/>
          <p:cNvPicPr preferRelativeResize="0"/>
          <p:nvPr/>
        </p:nvPicPr>
        <p:blipFill>
          <a:blip r:embed="rId3">
            <a:alphaModFix/>
          </a:blip>
          <a:stretch>
            <a:fillRect/>
          </a:stretch>
        </p:blipFill>
        <p:spPr>
          <a:xfrm>
            <a:off x="6881725" y="445465"/>
            <a:ext cx="1950574" cy="571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BFB"/>
        </a:solidFill>
      </p:bgPr>
    </p:bg>
    <p:spTree>
      <p:nvGrpSpPr>
        <p:cNvPr id="144" name="Shape 144"/>
        <p:cNvGrpSpPr/>
        <p:nvPr/>
      </p:nvGrpSpPr>
      <p:grpSpPr>
        <a:xfrm>
          <a:off x="0" y="0"/>
          <a:ext cx="0" cy="0"/>
          <a:chOff x="0" y="0"/>
          <a:chExt cx="0" cy="0"/>
        </a:xfrm>
      </p:grpSpPr>
      <p:sp>
        <p:nvSpPr>
          <p:cNvPr id="145" name="Google Shape;145;p23"/>
          <p:cNvSpPr txBox="1"/>
          <p:nvPr>
            <p:ph type="title"/>
          </p:nvPr>
        </p:nvSpPr>
        <p:spPr>
          <a:xfrm>
            <a:off x="311700" y="445025"/>
            <a:ext cx="8520600" cy="572700"/>
          </a:xfrm>
          <a:prstGeom prst="rect">
            <a:avLst/>
          </a:prstGeom>
          <a:effectLst>
            <a:outerShdw blurRad="57150" rotWithShape="0" algn="bl" dir="4200000" dist="19050">
              <a:srgbClr val="BC06BC"/>
            </a:outerShdw>
          </a:effectLst>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n-GB">
                <a:solidFill>
                  <a:srgbClr val="FDBDD7"/>
                </a:solidFill>
              </a:rPr>
              <a:t>Recommendations</a:t>
            </a:r>
            <a:r>
              <a:rPr b="1" lang="en-GB">
                <a:solidFill>
                  <a:srgbClr val="FDBDD7"/>
                </a:solidFill>
              </a:rPr>
              <a:t> and next steps</a:t>
            </a:r>
            <a:endParaRPr b="1">
              <a:solidFill>
                <a:srgbClr val="FDBDD7"/>
              </a:solidFill>
            </a:endParaRPr>
          </a:p>
        </p:txBody>
      </p:sp>
      <p:sp>
        <p:nvSpPr>
          <p:cNvPr id="146" name="Google Shape;14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b="1" lang="en-GB" sz="1100">
                <a:solidFill>
                  <a:schemeClr val="dk1"/>
                </a:solidFill>
              </a:rPr>
              <a:t>Add contextual features</a:t>
            </a:r>
            <a:r>
              <a:rPr lang="en-GB" sz="1100">
                <a:solidFill>
                  <a:schemeClr val="dk1"/>
                </a:solidFill>
              </a:rPr>
              <a:t> (housing, cultural background) to improve model performance and generalizability.</a:t>
            </a:r>
            <a:br>
              <a:rPr lang="en-GB"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b="1" lang="en-GB" sz="1100">
                <a:solidFill>
                  <a:schemeClr val="dk1"/>
                </a:solidFill>
              </a:rPr>
              <a:t>Relationships are correlational, not causal</a:t>
            </a:r>
            <a:r>
              <a:rPr lang="en-GB" sz="1100">
                <a:solidFill>
                  <a:schemeClr val="dk1"/>
                </a:solidFill>
              </a:rPr>
              <a:t>; features often act as proxies for unobserved factors.</a:t>
            </a:r>
            <a:br>
              <a:rPr lang="en-GB"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b="1" lang="en-GB" sz="1100">
                <a:solidFill>
                  <a:schemeClr val="dk1"/>
                </a:solidFill>
              </a:rPr>
              <a:t>Linear models (logistic regression)</a:t>
            </a:r>
            <a:r>
              <a:rPr lang="en-GB" sz="1100">
                <a:solidFill>
                  <a:schemeClr val="dk1"/>
                </a:solidFill>
              </a:rPr>
              <a:t> aid interpretability but may miss nonlinear effects and feature interactions.</a:t>
            </a:r>
            <a:br>
              <a:rPr lang="en-GB"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b="1" lang="en-GB" sz="1100">
                <a:solidFill>
                  <a:schemeClr val="dk1"/>
                </a:solidFill>
              </a:rPr>
              <a:t>Feature correlation</a:t>
            </a:r>
            <a:r>
              <a:rPr lang="en-GB" sz="1100">
                <a:solidFill>
                  <a:schemeClr val="dk1"/>
                </a:solidFill>
              </a:rPr>
              <a:t> (e.g., education and job) can affect coefficient stability; consistency across models is key.</a:t>
            </a:r>
            <a:br>
              <a:rPr lang="en-GB" sz="1100">
                <a:solidFill>
                  <a:schemeClr val="dk1"/>
                </a:solidFill>
              </a:rPr>
            </a:br>
            <a:endParaRPr sz="1100">
              <a:solidFill>
                <a:schemeClr val="dk1"/>
              </a:solidFill>
            </a:endParaRPr>
          </a:p>
          <a:p>
            <a:pPr indent="-317500" lvl="0" marL="457200" rtl="0" algn="l">
              <a:spcBef>
                <a:spcPts val="0"/>
              </a:spcBef>
              <a:spcAft>
                <a:spcPts val="0"/>
              </a:spcAft>
              <a:buSzPts val="1400"/>
              <a:buChar char="●"/>
            </a:pPr>
            <a:r>
              <a:rPr b="1" lang="en-GB" sz="1100">
                <a:solidFill>
                  <a:schemeClr val="dk1"/>
                </a:solidFill>
              </a:rPr>
              <a:t>Trade-off:</a:t>
            </a:r>
            <a:r>
              <a:rPr lang="en-GB" sz="1100">
                <a:solidFill>
                  <a:schemeClr val="dk1"/>
                </a:solidFill>
              </a:rPr>
              <a:t> Flexible models may boost accuracy but reduce transparency and comparability.</a:t>
            </a:r>
            <a:endParaRPr sz="1100">
              <a:solidFill>
                <a:schemeClr val="dk1"/>
              </a:solidFill>
            </a:endParaRPr>
          </a:p>
        </p:txBody>
      </p:sp>
      <p:pic>
        <p:nvPicPr>
          <p:cNvPr id="147" name="Google Shape;147;p23" title="OKCupid.jpg"/>
          <p:cNvPicPr preferRelativeResize="0"/>
          <p:nvPr/>
        </p:nvPicPr>
        <p:blipFill>
          <a:blip r:embed="rId3">
            <a:alphaModFix/>
          </a:blip>
          <a:stretch>
            <a:fillRect/>
          </a:stretch>
        </p:blipFill>
        <p:spPr>
          <a:xfrm>
            <a:off x="6881725" y="445465"/>
            <a:ext cx="1950574" cy="571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